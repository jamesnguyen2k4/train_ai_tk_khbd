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Arimo Bold" charset="1" panose="020B0704020202020204"/>
      <p:regular r:id="rId25"/>
    </p:embeddedFont>
    <p:embeddedFont>
      <p:font typeface="Arimo" charset="1" panose="020B0604020202020204"/>
      <p:regular r:id="rId28"/>
    </p:embeddedFont>
    <p:embeddedFont>
      <p:font typeface="Calibri (MS)" charset="1" panose="020F0502020204030204"/>
      <p:regular r:id="rId29"/>
    </p:embeddedFont>
    <p:embeddedFont>
      <p:font typeface="Calibri (MS) Bold" charset="1" panose="020F070203040403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notesSlides/notesSlide2.xml" Type="http://schemas.openxmlformats.org/officeDocument/2006/relationships/notesSlide"/><Relationship Id="rId27" Target="notesSlides/notesSlide3.xml" Type="http://schemas.openxmlformats.org/officeDocument/2006/relationships/note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notesSlides/notesSlide6.xml" Type="http://schemas.openxmlformats.org/officeDocument/2006/relationships/notesSlide"/><Relationship Id="rId33" Target="notesSlides/notesSlide7.xml" Type="http://schemas.openxmlformats.org/officeDocument/2006/relationships/notesSlide"/><Relationship Id="rId34" Target="notesSlides/notesSlide8.xml" Type="http://schemas.openxmlformats.org/officeDocument/2006/relationships/notesSlide"/><Relationship Id="rId35" Target="notesSlides/notesSlide9.xml" Type="http://schemas.openxmlformats.org/officeDocument/2006/relationships/notesSlide"/><Relationship Id="rId36" Target="notesSlides/notesSlide10.xml" Type="http://schemas.openxmlformats.org/officeDocument/2006/relationships/notesSlide"/><Relationship Id="rId37" Target="fonts/font37.fntdata" Type="http://schemas.openxmlformats.org/officeDocument/2006/relationships/font"/><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theme/theme1.xml" Type="http://schemas.openxmlformats.org/officeDocument/2006/relationships/theme"/><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4877" y="2012748"/>
            <a:ext cx="16858200" cy="2656522"/>
            <a:chOff x="0" y="0"/>
            <a:chExt cx="22477600" cy="3542030"/>
          </a:xfrm>
        </p:grpSpPr>
        <p:sp>
          <p:nvSpPr>
            <p:cNvPr name="Freeform 3" id="3"/>
            <p:cNvSpPr/>
            <p:nvPr/>
          </p:nvSpPr>
          <p:spPr>
            <a:xfrm flipH="false" flipV="false" rot="0">
              <a:off x="0" y="0"/>
              <a:ext cx="22477600" cy="3542030"/>
            </a:xfrm>
            <a:custGeom>
              <a:avLst/>
              <a:gdLst/>
              <a:ahLst/>
              <a:cxnLst/>
              <a:rect r="r" b="b" t="t" l="l"/>
              <a:pathLst>
                <a:path h="3542030" w="22477600">
                  <a:moveTo>
                    <a:pt x="0" y="0"/>
                  </a:moveTo>
                  <a:lnTo>
                    <a:pt x="22477600" y="0"/>
                  </a:lnTo>
                  <a:lnTo>
                    <a:pt x="22477600" y="3542030"/>
                  </a:lnTo>
                  <a:lnTo>
                    <a:pt x="0" y="3542030"/>
                  </a:lnTo>
                  <a:close/>
                </a:path>
              </a:pathLst>
            </a:custGeom>
            <a:solidFill>
              <a:srgbClr val="000000">
                <a:alpha val="0"/>
              </a:srgbClr>
            </a:solidFill>
          </p:spPr>
        </p:sp>
        <p:sp>
          <p:nvSpPr>
            <p:cNvPr name="TextBox 4" id="4"/>
            <p:cNvSpPr txBox="true"/>
            <p:nvPr/>
          </p:nvSpPr>
          <p:spPr>
            <a:xfrm>
              <a:off x="0" y="-38100"/>
              <a:ext cx="22477600" cy="3580130"/>
            </a:xfrm>
            <a:prstGeom prst="rect">
              <a:avLst/>
            </a:prstGeom>
          </p:spPr>
          <p:txBody>
            <a:bodyPr anchor="ctr" rtlCol="false" tIns="0" lIns="0" bIns="0" rIns="0"/>
            <a:lstStyle/>
            <a:p>
              <a:pPr algn="ctr">
                <a:lnSpc>
                  <a:spcPts val="6720"/>
                </a:lnSpc>
              </a:pPr>
              <a:r>
                <a:rPr lang="en-US" sz="5600" b="true">
                  <a:solidFill>
                    <a:srgbClr val="000000"/>
                  </a:solidFill>
                  <a:latin typeface="Arimo Bold"/>
                  <a:ea typeface="Arimo Bold"/>
                  <a:cs typeface="Arimo Bold"/>
                  <a:sym typeface="Arimo Bold"/>
                </a:rPr>
                <a:t>BÀI 27: BIỂU MẪU TRÊN TRANG WEB </a:t>
              </a:r>
            </a:p>
            <a:p>
              <a:pPr algn="ctr">
                <a:lnSpc>
                  <a:spcPts val="6720"/>
                </a:lnSpc>
              </a:pPr>
              <a:r>
                <a:rPr lang="en-US" sz="5600" b="true">
                  <a:solidFill>
                    <a:srgbClr val="000000"/>
                  </a:solidFill>
                  <a:latin typeface="Arimo Bold"/>
                  <a:ea typeface="Arimo Bold"/>
                  <a:cs typeface="Arimo Bold"/>
                  <a:sym typeface="Arimo Bold"/>
                </a:rPr>
                <a:t>(Tiết 2)</a:t>
              </a:r>
            </a:p>
          </p:txBody>
        </p:sp>
      </p:grpSp>
      <p:grpSp>
        <p:nvGrpSpPr>
          <p:cNvPr name="Group 5" id="5"/>
          <p:cNvGrpSpPr/>
          <p:nvPr/>
        </p:nvGrpSpPr>
        <p:grpSpPr>
          <a:xfrm rot="0">
            <a:off x="3998595" y="1568768"/>
            <a:ext cx="534353" cy="534352"/>
            <a:chOff x="0" y="0"/>
            <a:chExt cx="712470" cy="712470"/>
          </a:xfrm>
        </p:grpSpPr>
        <p:sp>
          <p:nvSpPr>
            <p:cNvPr name="Freeform 6" id="6"/>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7" id="7"/>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8" id="8"/>
          <p:cNvGrpSpPr/>
          <p:nvPr/>
        </p:nvGrpSpPr>
        <p:grpSpPr>
          <a:xfrm rot="0">
            <a:off x="5438775" y="1568768"/>
            <a:ext cx="534353" cy="534352"/>
            <a:chOff x="0" y="0"/>
            <a:chExt cx="712470" cy="712470"/>
          </a:xfrm>
        </p:grpSpPr>
        <p:sp>
          <p:nvSpPr>
            <p:cNvPr name="Freeform 9" id="9"/>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10" id="10"/>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11" id="11"/>
          <p:cNvGrpSpPr/>
          <p:nvPr/>
        </p:nvGrpSpPr>
        <p:grpSpPr>
          <a:xfrm rot="0">
            <a:off x="4718685" y="1568768"/>
            <a:ext cx="534353" cy="534352"/>
            <a:chOff x="0" y="0"/>
            <a:chExt cx="712470" cy="712470"/>
          </a:xfrm>
        </p:grpSpPr>
        <p:sp>
          <p:nvSpPr>
            <p:cNvPr name="Freeform 12" id="12"/>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13" id="13"/>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14" id="14"/>
          <p:cNvGrpSpPr/>
          <p:nvPr/>
        </p:nvGrpSpPr>
        <p:grpSpPr>
          <a:xfrm rot="0">
            <a:off x="6158865" y="1568768"/>
            <a:ext cx="534353" cy="534352"/>
            <a:chOff x="0" y="0"/>
            <a:chExt cx="712470" cy="712470"/>
          </a:xfrm>
        </p:grpSpPr>
        <p:sp>
          <p:nvSpPr>
            <p:cNvPr name="Freeform 15" id="15"/>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16" id="16"/>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17" id="17"/>
          <p:cNvGrpSpPr/>
          <p:nvPr/>
        </p:nvGrpSpPr>
        <p:grpSpPr>
          <a:xfrm rot="0">
            <a:off x="394335" y="9069705"/>
            <a:ext cx="996969" cy="85725"/>
            <a:chOff x="0" y="0"/>
            <a:chExt cx="1329292" cy="114300"/>
          </a:xfrm>
        </p:grpSpPr>
        <p:sp>
          <p:nvSpPr>
            <p:cNvPr name="Freeform 18" id="18"/>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9" id="19"/>
          <p:cNvGrpSpPr/>
          <p:nvPr/>
        </p:nvGrpSpPr>
        <p:grpSpPr>
          <a:xfrm rot="0">
            <a:off x="394335" y="9420225"/>
            <a:ext cx="996969" cy="85725"/>
            <a:chOff x="0" y="0"/>
            <a:chExt cx="1329292" cy="114300"/>
          </a:xfrm>
        </p:grpSpPr>
        <p:sp>
          <p:nvSpPr>
            <p:cNvPr name="Freeform 20" id="20"/>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21" id="21"/>
          <p:cNvGrpSpPr/>
          <p:nvPr/>
        </p:nvGrpSpPr>
        <p:grpSpPr>
          <a:xfrm rot="0">
            <a:off x="394335" y="9770745"/>
            <a:ext cx="996969" cy="85725"/>
            <a:chOff x="0" y="0"/>
            <a:chExt cx="1329292" cy="114300"/>
          </a:xfrm>
        </p:grpSpPr>
        <p:sp>
          <p:nvSpPr>
            <p:cNvPr name="Freeform 22" id="22"/>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23" id="23"/>
          <p:cNvGrpSpPr/>
          <p:nvPr/>
        </p:nvGrpSpPr>
        <p:grpSpPr>
          <a:xfrm rot="0">
            <a:off x="7289481" y="1792605"/>
            <a:ext cx="8378713" cy="85725"/>
            <a:chOff x="0" y="0"/>
            <a:chExt cx="11171618" cy="114300"/>
          </a:xfrm>
        </p:grpSpPr>
        <p:sp>
          <p:nvSpPr>
            <p:cNvPr name="Freeform 24" id="24"/>
            <p:cNvSpPr/>
            <p:nvPr/>
          </p:nvSpPr>
          <p:spPr>
            <a:xfrm flipH="false" flipV="false" rot="0">
              <a:off x="57150" y="0"/>
              <a:ext cx="11057255" cy="114300"/>
            </a:xfrm>
            <a:custGeom>
              <a:avLst/>
              <a:gdLst/>
              <a:ahLst/>
              <a:cxnLst/>
              <a:rect r="r" b="b" t="t" l="l"/>
              <a:pathLst>
                <a:path h="114300" w="11057255">
                  <a:moveTo>
                    <a:pt x="0" y="0"/>
                  </a:moveTo>
                  <a:lnTo>
                    <a:pt x="11057255" y="0"/>
                  </a:lnTo>
                  <a:lnTo>
                    <a:pt x="11057255" y="114300"/>
                  </a:lnTo>
                  <a:lnTo>
                    <a:pt x="0" y="114300"/>
                  </a:lnTo>
                  <a:close/>
                </a:path>
              </a:pathLst>
            </a:custGeom>
            <a:solidFill>
              <a:srgbClr val="00B0F0"/>
            </a:solidFill>
            <a:ln w="12700">
              <a:solidFill>
                <a:srgbClr val="000000"/>
              </a:solidFill>
            </a:ln>
          </p:spPr>
        </p:sp>
      </p:grpSp>
      <p:grpSp>
        <p:nvGrpSpPr>
          <p:cNvPr name="Group 25" id="25"/>
          <p:cNvGrpSpPr/>
          <p:nvPr/>
        </p:nvGrpSpPr>
        <p:grpSpPr>
          <a:xfrm rot="0">
            <a:off x="2177766" y="4383404"/>
            <a:ext cx="13490427" cy="98108"/>
            <a:chOff x="0" y="0"/>
            <a:chExt cx="17987236" cy="130810"/>
          </a:xfrm>
        </p:grpSpPr>
        <p:sp>
          <p:nvSpPr>
            <p:cNvPr name="Freeform 26" id="26"/>
            <p:cNvSpPr/>
            <p:nvPr/>
          </p:nvSpPr>
          <p:spPr>
            <a:xfrm flipH="false" flipV="false" rot="0">
              <a:off x="57150" y="0"/>
              <a:ext cx="17872963" cy="130810"/>
            </a:xfrm>
            <a:custGeom>
              <a:avLst/>
              <a:gdLst/>
              <a:ahLst/>
              <a:cxnLst/>
              <a:rect r="r" b="b" t="t" l="l"/>
              <a:pathLst>
                <a:path h="130810" w="17872963">
                  <a:moveTo>
                    <a:pt x="0" y="0"/>
                  </a:moveTo>
                  <a:lnTo>
                    <a:pt x="17872963" y="16510"/>
                  </a:lnTo>
                  <a:lnTo>
                    <a:pt x="17872836" y="130810"/>
                  </a:lnTo>
                  <a:lnTo>
                    <a:pt x="0" y="114300"/>
                  </a:lnTo>
                  <a:close/>
                </a:path>
              </a:pathLst>
            </a:custGeom>
            <a:solidFill>
              <a:srgbClr val="00B0F0"/>
            </a:solidFill>
            <a:ln w="12700">
              <a:solidFill>
                <a:srgbClr val="000000"/>
              </a:solidFill>
            </a:ln>
          </p:spPr>
        </p:sp>
      </p:grpSp>
      <p:grpSp>
        <p:nvGrpSpPr>
          <p:cNvPr name="Group 27" id="27"/>
          <p:cNvGrpSpPr/>
          <p:nvPr/>
        </p:nvGrpSpPr>
        <p:grpSpPr>
          <a:xfrm rot="0">
            <a:off x="15582471" y="1744980"/>
            <a:ext cx="85725" cy="2724150"/>
            <a:chOff x="0" y="0"/>
            <a:chExt cx="114300" cy="3632200"/>
          </a:xfrm>
        </p:grpSpPr>
        <p:sp>
          <p:nvSpPr>
            <p:cNvPr name="Freeform 28" id="28"/>
            <p:cNvSpPr/>
            <p:nvPr/>
          </p:nvSpPr>
          <p:spPr>
            <a:xfrm flipH="false" flipV="false" rot="0">
              <a:off x="0" y="57150"/>
              <a:ext cx="114300" cy="3517900"/>
            </a:xfrm>
            <a:custGeom>
              <a:avLst/>
              <a:gdLst/>
              <a:ahLst/>
              <a:cxnLst/>
              <a:rect r="r" b="b" t="t" l="l"/>
              <a:pathLst>
                <a:path h="3517900" w="114300">
                  <a:moveTo>
                    <a:pt x="114300" y="0"/>
                  </a:moveTo>
                  <a:lnTo>
                    <a:pt x="114300" y="3517900"/>
                  </a:lnTo>
                  <a:lnTo>
                    <a:pt x="0" y="3517900"/>
                  </a:lnTo>
                  <a:lnTo>
                    <a:pt x="0" y="0"/>
                  </a:lnTo>
                  <a:close/>
                </a:path>
              </a:pathLst>
            </a:custGeom>
            <a:solidFill>
              <a:srgbClr val="00B0F0"/>
            </a:solidFill>
            <a:ln w="12700">
              <a:solidFill>
                <a:srgbClr val="000000"/>
              </a:solidFill>
            </a:ln>
          </p:spPr>
        </p:sp>
      </p:grpSp>
      <p:grpSp>
        <p:nvGrpSpPr>
          <p:cNvPr name="Group 29" id="29"/>
          <p:cNvGrpSpPr/>
          <p:nvPr/>
        </p:nvGrpSpPr>
        <p:grpSpPr>
          <a:xfrm rot="0">
            <a:off x="2177764" y="1744980"/>
            <a:ext cx="85725" cy="2724150"/>
            <a:chOff x="0" y="0"/>
            <a:chExt cx="114300" cy="3632200"/>
          </a:xfrm>
        </p:grpSpPr>
        <p:sp>
          <p:nvSpPr>
            <p:cNvPr name="Freeform 30" id="30"/>
            <p:cNvSpPr/>
            <p:nvPr/>
          </p:nvSpPr>
          <p:spPr>
            <a:xfrm flipH="false" flipV="false" rot="0">
              <a:off x="0" y="57150"/>
              <a:ext cx="114300" cy="3517900"/>
            </a:xfrm>
            <a:custGeom>
              <a:avLst/>
              <a:gdLst/>
              <a:ahLst/>
              <a:cxnLst/>
              <a:rect r="r" b="b" t="t" l="l"/>
              <a:pathLst>
                <a:path h="3517900" w="114300">
                  <a:moveTo>
                    <a:pt x="114300" y="0"/>
                  </a:moveTo>
                  <a:lnTo>
                    <a:pt x="114300" y="3517900"/>
                  </a:lnTo>
                  <a:lnTo>
                    <a:pt x="0" y="3517900"/>
                  </a:lnTo>
                  <a:lnTo>
                    <a:pt x="0" y="0"/>
                  </a:lnTo>
                  <a:close/>
                </a:path>
              </a:pathLst>
            </a:custGeom>
            <a:solidFill>
              <a:srgbClr val="00B0F0"/>
            </a:solidFill>
            <a:ln w="12700">
              <a:solidFill>
                <a:srgbClr val="000000"/>
              </a:solidFill>
            </a:ln>
          </p:spPr>
        </p:sp>
      </p:grpSp>
      <p:grpSp>
        <p:nvGrpSpPr>
          <p:cNvPr name="Group 31" id="31"/>
          <p:cNvGrpSpPr/>
          <p:nvPr/>
        </p:nvGrpSpPr>
        <p:grpSpPr>
          <a:xfrm rot="0">
            <a:off x="2177764" y="1773555"/>
            <a:ext cx="1314101" cy="85725"/>
            <a:chOff x="0" y="0"/>
            <a:chExt cx="1752134" cy="114300"/>
          </a:xfrm>
        </p:grpSpPr>
        <p:sp>
          <p:nvSpPr>
            <p:cNvPr name="Freeform 32" id="32"/>
            <p:cNvSpPr/>
            <p:nvPr/>
          </p:nvSpPr>
          <p:spPr>
            <a:xfrm flipH="false" flipV="false" rot="0">
              <a:off x="57150" y="0"/>
              <a:ext cx="1637792" cy="114300"/>
            </a:xfrm>
            <a:custGeom>
              <a:avLst/>
              <a:gdLst/>
              <a:ahLst/>
              <a:cxnLst/>
              <a:rect r="r" b="b" t="t" l="l"/>
              <a:pathLst>
                <a:path h="114300" w="1637792">
                  <a:moveTo>
                    <a:pt x="0" y="0"/>
                  </a:moveTo>
                  <a:lnTo>
                    <a:pt x="1637792" y="0"/>
                  </a:lnTo>
                  <a:lnTo>
                    <a:pt x="1637792" y="114300"/>
                  </a:lnTo>
                  <a:lnTo>
                    <a:pt x="0" y="114300"/>
                  </a:lnTo>
                  <a:close/>
                </a:path>
              </a:pathLst>
            </a:custGeom>
            <a:solidFill>
              <a:srgbClr val="00B0F0"/>
            </a:solidFill>
            <a:ln w="12700">
              <a:solidFill>
                <a:srgbClr val="000000"/>
              </a:solidFill>
            </a:ln>
          </p:spPr>
        </p:sp>
      </p:grpSp>
      <p:grpSp>
        <p:nvGrpSpPr>
          <p:cNvPr name="Group 33" id="33"/>
          <p:cNvGrpSpPr>
            <a:grpSpLocks noChangeAspect="true"/>
          </p:cNvGrpSpPr>
          <p:nvPr/>
        </p:nvGrpSpPr>
        <p:grpSpPr>
          <a:xfrm rot="0">
            <a:off x="3964578" y="4669270"/>
            <a:ext cx="9916804" cy="5817870"/>
            <a:chOff x="0" y="0"/>
            <a:chExt cx="14060170" cy="8248650"/>
          </a:xfrm>
        </p:grpSpPr>
        <p:sp>
          <p:nvSpPr>
            <p:cNvPr name="Freeform 34" id="34" descr="https://kimi-img.moonshot.cn/pub/slides/slides_tmpl/image/25-08-27-19:57:41-d2nf5d98bjvh7rlivslg.png"/>
            <p:cNvSpPr/>
            <p:nvPr/>
          </p:nvSpPr>
          <p:spPr>
            <a:xfrm flipH="false" flipV="false" rot="0">
              <a:off x="0" y="0"/>
              <a:ext cx="14060170" cy="8248650"/>
            </a:xfrm>
            <a:custGeom>
              <a:avLst/>
              <a:gdLst/>
              <a:ahLst/>
              <a:cxnLst/>
              <a:rect r="r" b="b" t="t" l="l"/>
              <a:pathLst>
                <a:path h="8248650" w="14060170">
                  <a:moveTo>
                    <a:pt x="0" y="0"/>
                  </a:moveTo>
                  <a:lnTo>
                    <a:pt x="14060170" y="0"/>
                  </a:lnTo>
                  <a:lnTo>
                    <a:pt x="14060170" y="8248650"/>
                  </a:lnTo>
                  <a:lnTo>
                    <a:pt x="0" y="8248650"/>
                  </a:lnTo>
                  <a:lnTo>
                    <a:pt x="0" y="0"/>
                  </a:lnTo>
                  <a:close/>
                </a:path>
              </a:pathLst>
            </a:custGeom>
            <a:blipFill>
              <a:blip r:embed="rId3"/>
              <a:stretch>
                <a:fillRect l="0" t="0" r="-13" b="-73244"/>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37997" y="1711642"/>
            <a:ext cx="5429250" cy="5869305"/>
            <a:chOff x="0" y="0"/>
            <a:chExt cx="7239000" cy="7825740"/>
          </a:xfrm>
        </p:grpSpPr>
        <p:sp>
          <p:nvSpPr>
            <p:cNvPr name="Freeform 3" id="3" descr="https://kimi-img.moonshot.cn/pub/slides/slides_tmpl/image/25-08-27-19:57:41-d2nf5d98bjvh7rlivsmg.png"/>
            <p:cNvSpPr/>
            <p:nvPr/>
          </p:nvSpPr>
          <p:spPr>
            <a:xfrm flipH="false" flipV="false" rot="0">
              <a:off x="0" y="0"/>
              <a:ext cx="7239000" cy="7825740"/>
            </a:xfrm>
            <a:custGeom>
              <a:avLst/>
              <a:gdLst/>
              <a:ahLst/>
              <a:cxnLst/>
              <a:rect r="r" b="b" t="t" l="l"/>
              <a:pathLst>
                <a:path h="7825740" w="7239000">
                  <a:moveTo>
                    <a:pt x="0" y="0"/>
                  </a:moveTo>
                  <a:lnTo>
                    <a:pt x="7239000" y="0"/>
                  </a:lnTo>
                  <a:lnTo>
                    <a:pt x="7239000" y="7825740"/>
                  </a:lnTo>
                  <a:lnTo>
                    <a:pt x="0" y="7825740"/>
                  </a:lnTo>
                  <a:lnTo>
                    <a:pt x="0" y="0"/>
                  </a:lnTo>
                  <a:close/>
                </a:path>
              </a:pathLst>
            </a:custGeom>
            <a:blipFill>
              <a:blip r:embed="rId3"/>
              <a:stretch>
                <a:fillRect l="-4" t="0" r="-4" b="0"/>
              </a:stretch>
            </a:blipFill>
          </p:spPr>
        </p:sp>
      </p:grpSp>
      <p:grpSp>
        <p:nvGrpSpPr>
          <p:cNvPr name="Group 4" id="4"/>
          <p:cNvGrpSpPr/>
          <p:nvPr/>
        </p:nvGrpSpPr>
        <p:grpSpPr>
          <a:xfrm rot="0">
            <a:off x="3027998" y="7538085"/>
            <a:ext cx="13050202" cy="1884997"/>
            <a:chOff x="0" y="0"/>
            <a:chExt cx="17400270" cy="2513330"/>
          </a:xfrm>
        </p:grpSpPr>
        <p:sp>
          <p:nvSpPr>
            <p:cNvPr name="Freeform 5" id="5"/>
            <p:cNvSpPr/>
            <p:nvPr/>
          </p:nvSpPr>
          <p:spPr>
            <a:xfrm flipH="false" flipV="false" rot="0">
              <a:off x="57150" y="57150"/>
              <a:ext cx="17285971" cy="2399030"/>
            </a:xfrm>
            <a:custGeom>
              <a:avLst/>
              <a:gdLst/>
              <a:ahLst/>
              <a:cxnLst/>
              <a:rect r="r" b="b" t="t" l="l"/>
              <a:pathLst>
                <a:path h="2399030" w="17285971">
                  <a:moveTo>
                    <a:pt x="0" y="1199515"/>
                  </a:moveTo>
                  <a:cubicBezTo>
                    <a:pt x="0" y="537083"/>
                    <a:pt x="558927" y="0"/>
                    <a:pt x="1248410" y="0"/>
                  </a:cubicBezTo>
                  <a:lnTo>
                    <a:pt x="16037561" y="0"/>
                  </a:lnTo>
                  <a:cubicBezTo>
                    <a:pt x="16727044" y="0"/>
                    <a:pt x="17285971" y="537083"/>
                    <a:pt x="17285971" y="1199515"/>
                  </a:cubicBezTo>
                  <a:cubicBezTo>
                    <a:pt x="17285971" y="1861947"/>
                    <a:pt x="16727044" y="2399030"/>
                    <a:pt x="16037561" y="2399030"/>
                  </a:cubicBezTo>
                  <a:lnTo>
                    <a:pt x="1248410" y="2399030"/>
                  </a:lnTo>
                  <a:cubicBezTo>
                    <a:pt x="558927" y="2399030"/>
                    <a:pt x="0" y="1861947"/>
                    <a:pt x="0" y="1199515"/>
                  </a:cubicBezTo>
                  <a:close/>
                </a:path>
              </a:pathLst>
            </a:custGeom>
            <a:solidFill>
              <a:srgbClr val="00B0F0"/>
            </a:solidFill>
            <a:ln w="12700">
              <a:solidFill>
                <a:srgbClr val="000000"/>
              </a:solidFill>
            </a:ln>
          </p:spPr>
        </p:sp>
      </p:grpSp>
      <p:grpSp>
        <p:nvGrpSpPr>
          <p:cNvPr name="Group 6" id="6"/>
          <p:cNvGrpSpPr/>
          <p:nvPr/>
        </p:nvGrpSpPr>
        <p:grpSpPr>
          <a:xfrm rot="0">
            <a:off x="2837498" y="7283768"/>
            <a:ext cx="13050202" cy="1884997"/>
            <a:chOff x="0" y="0"/>
            <a:chExt cx="17400270" cy="2513330"/>
          </a:xfrm>
        </p:grpSpPr>
        <p:sp>
          <p:nvSpPr>
            <p:cNvPr name="Freeform 7" id="7"/>
            <p:cNvSpPr/>
            <p:nvPr/>
          </p:nvSpPr>
          <p:spPr>
            <a:xfrm flipH="false" flipV="false" rot="0">
              <a:off x="57150" y="57150"/>
              <a:ext cx="17285971" cy="2399030"/>
            </a:xfrm>
            <a:custGeom>
              <a:avLst/>
              <a:gdLst/>
              <a:ahLst/>
              <a:cxnLst/>
              <a:rect r="r" b="b" t="t" l="l"/>
              <a:pathLst>
                <a:path h="2399030" w="17285971">
                  <a:moveTo>
                    <a:pt x="0" y="1199515"/>
                  </a:moveTo>
                  <a:cubicBezTo>
                    <a:pt x="0" y="537083"/>
                    <a:pt x="558927" y="0"/>
                    <a:pt x="1248410" y="0"/>
                  </a:cubicBezTo>
                  <a:lnTo>
                    <a:pt x="16037561" y="0"/>
                  </a:lnTo>
                  <a:cubicBezTo>
                    <a:pt x="16727044" y="0"/>
                    <a:pt x="17285971" y="537083"/>
                    <a:pt x="17285971" y="1199515"/>
                  </a:cubicBezTo>
                  <a:cubicBezTo>
                    <a:pt x="17285971" y="1861947"/>
                    <a:pt x="16727044" y="2399030"/>
                    <a:pt x="16037561" y="2399030"/>
                  </a:cubicBezTo>
                  <a:lnTo>
                    <a:pt x="1248410" y="2399030"/>
                  </a:lnTo>
                  <a:cubicBezTo>
                    <a:pt x="558927" y="2399030"/>
                    <a:pt x="0" y="1861947"/>
                    <a:pt x="0" y="1199515"/>
                  </a:cubicBezTo>
                  <a:close/>
                </a:path>
              </a:pathLst>
            </a:custGeom>
            <a:solidFill>
              <a:srgbClr val="FFFFFF"/>
            </a:solidFill>
            <a:ln w="12700">
              <a:solidFill>
                <a:srgbClr val="000000"/>
              </a:solidFill>
            </a:ln>
          </p:spPr>
        </p:sp>
        <p:sp>
          <p:nvSpPr>
            <p:cNvPr name="Freeform 8" id="8"/>
            <p:cNvSpPr/>
            <p:nvPr/>
          </p:nvSpPr>
          <p:spPr>
            <a:xfrm flipH="false" flipV="false" rot="0">
              <a:off x="0" y="0"/>
              <a:ext cx="17400271" cy="2513330"/>
            </a:xfrm>
            <a:custGeom>
              <a:avLst/>
              <a:gdLst/>
              <a:ahLst/>
              <a:cxnLst/>
              <a:rect r="r" b="b" t="t" l="l"/>
              <a:pathLst>
                <a:path h="2513330" w="17400271">
                  <a:moveTo>
                    <a:pt x="0" y="1256665"/>
                  </a:moveTo>
                  <a:cubicBezTo>
                    <a:pt x="0" y="560451"/>
                    <a:pt x="586740" y="0"/>
                    <a:pt x="1305560" y="0"/>
                  </a:cubicBezTo>
                  <a:lnTo>
                    <a:pt x="16094711" y="0"/>
                  </a:lnTo>
                  <a:lnTo>
                    <a:pt x="16094711" y="57150"/>
                  </a:lnTo>
                  <a:lnTo>
                    <a:pt x="16094711" y="0"/>
                  </a:lnTo>
                  <a:cubicBezTo>
                    <a:pt x="16813530" y="0"/>
                    <a:pt x="17400271" y="560451"/>
                    <a:pt x="17400271" y="1256665"/>
                  </a:cubicBezTo>
                  <a:lnTo>
                    <a:pt x="17343121" y="1256665"/>
                  </a:lnTo>
                  <a:lnTo>
                    <a:pt x="17400271" y="1256665"/>
                  </a:lnTo>
                  <a:lnTo>
                    <a:pt x="17343121" y="1256665"/>
                  </a:lnTo>
                  <a:lnTo>
                    <a:pt x="17400271" y="1256665"/>
                  </a:lnTo>
                  <a:cubicBezTo>
                    <a:pt x="17400271" y="1952879"/>
                    <a:pt x="16813530" y="2513330"/>
                    <a:pt x="16094711" y="2513330"/>
                  </a:cubicBezTo>
                  <a:lnTo>
                    <a:pt x="16094711" y="2456180"/>
                  </a:lnTo>
                  <a:lnTo>
                    <a:pt x="16094711" y="2513330"/>
                  </a:lnTo>
                  <a:lnTo>
                    <a:pt x="1305560" y="2513330"/>
                  </a:lnTo>
                  <a:lnTo>
                    <a:pt x="1305560" y="2456180"/>
                  </a:lnTo>
                  <a:lnTo>
                    <a:pt x="1305560" y="2513330"/>
                  </a:lnTo>
                  <a:cubicBezTo>
                    <a:pt x="586740" y="2513330"/>
                    <a:pt x="0" y="1952879"/>
                    <a:pt x="0" y="1256665"/>
                  </a:cubicBezTo>
                  <a:lnTo>
                    <a:pt x="57150" y="1256665"/>
                  </a:lnTo>
                  <a:lnTo>
                    <a:pt x="0" y="1256665"/>
                  </a:lnTo>
                  <a:moveTo>
                    <a:pt x="114300" y="1256665"/>
                  </a:moveTo>
                  <a:lnTo>
                    <a:pt x="57150" y="1256665"/>
                  </a:lnTo>
                  <a:lnTo>
                    <a:pt x="114300" y="1256665"/>
                  </a:lnTo>
                  <a:cubicBezTo>
                    <a:pt x="114300" y="1885442"/>
                    <a:pt x="645414" y="2399030"/>
                    <a:pt x="1305560" y="2399030"/>
                  </a:cubicBezTo>
                  <a:lnTo>
                    <a:pt x="16094711" y="2399030"/>
                  </a:lnTo>
                  <a:cubicBezTo>
                    <a:pt x="16754856" y="2399030"/>
                    <a:pt x="17285971" y="1885442"/>
                    <a:pt x="17285971" y="1256665"/>
                  </a:cubicBezTo>
                  <a:cubicBezTo>
                    <a:pt x="17285971" y="627888"/>
                    <a:pt x="16754856" y="114300"/>
                    <a:pt x="16094711" y="114300"/>
                  </a:cubicBezTo>
                  <a:lnTo>
                    <a:pt x="1305560" y="114300"/>
                  </a:lnTo>
                  <a:lnTo>
                    <a:pt x="1305560" y="57150"/>
                  </a:lnTo>
                  <a:lnTo>
                    <a:pt x="1305560" y="114300"/>
                  </a:lnTo>
                  <a:cubicBezTo>
                    <a:pt x="645414" y="114300"/>
                    <a:pt x="114300" y="627888"/>
                    <a:pt x="114300" y="1256665"/>
                  </a:cubicBezTo>
                  <a:close/>
                </a:path>
              </a:pathLst>
            </a:custGeom>
            <a:solidFill>
              <a:srgbClr val="000000"/>
            </a:solidFill>
            <a:ln w="12700">
              <a:solidFill>
                <a:srgbClr val="000000"/>
              </a:solidFill>
            </a:ln>
          </p:spPr>
        </p:sp>
      </p:grpSp>
      <p:grpSp>
        <p:nvGrpSpPr>
          <p:cNvPr name="Group 9" id="9"/>
          <p:cNvGrpSpPr/>
          <p:nvPr/>
        </p:nvGrpSpPr>
        <p:grpSpPr>
          <a:xfrm rot="0">
            <a:off x="2880360" y="7497575"/>
            <a:ext cx="12965430" cy="1384995"/>
            <a:chOff x="0" y="0"/>
            <a:chExt cx="17287240" cy="1846660"/>
          </a:xfrm>
        </p:grpSpPr>
        <p:sp>
          <p:nvSpPr>
            <p:cNvPr name="Freeform 10" id="10"/>
            <p:cNvSpPr/>
            <p:nvPr/>
          </p:nvSpPr>
          <p:spPr>
            <a:xfrm flipH="false" flipV="false" rot="0">
              <a:off x="0" y="0"/>
              <a:ext cx="17287239" cy="1846660"/>
            </a:xfrm>
            <a:custGeom>
              <a:avLst/>
              <a:gdLst/>
              <a:ahLst/>
              <a:cxnLst/>
              <a:rect r="r" b="b" t="t" l="l"/>
              <a:pathLst>
                <a:path h="1846660" w="17287239">
                  <a:moveTo>
                    <a:pt x="0" y="0"/>
                  </a:moveTo>
                  <a:lnTo>
                    <a:pt x="17287239" y="0"/>
                  </a:lnTo>
                  <a:lnTo>
                    <a:pt x="17287239" y="1846660"/>
                  </a:lnTo>
                  <a:lnTo>
                    <a:pt x="0" y="1846660"/>
                  </a:lnTo>
                  <a:close/>
                </a:path>
              </a:pathLst>
            </a:custGeom>
            <a:solidFill>
              <a:srgbClr val="000000">
                <a:alpha val="0"/>
              </a:srgbClr>
            </a:solidFill>
          </p:spPr>
        </p:sp>
        <p:sp>
          <p:nvSpPr>
            <p:cNvPr name="TextBox 11" id="11"/>
            <p:cNvSpPr txBox="true"/>
            <p:nvPr/>
          </p:nvSpPr>
          <p:spPr>
            <a:xfrm>
              <a:off x="0" y="-28575"/>
              <a:ext cx="17287240" cy="1875235"/>
            </a:xfrm>
            <a:prstGeom prst="rect">
              <a:avLst/>
            </a:prstGeom>
          </p:spPr>
          <p:txBody>
            <a:bodyPr anchor="ctr" rtlCol="false" tIns="0" lIns="0" bIns="0" rIns="0"/>
            <a:lstStyle/>
            <a:p>
              <a:pPr algn="ctr">
                <a:lnSpc>
                  <a:spcPts val="9720"/>
                </a:lnSpc>
              </a:pPr>
              <a:r>
                <a:rPr lang="en-US" sz="8100" b="true">
                  <a:solidFill>
                    <a:srgbClr val="000000"/>
                  </a:solidFill>
                  <a:latin typeface="Arimo Bold"/>
                  <a:ea typeface="Arimo Bold"/>
                  <a:cs typeface="Arimo Bold"/>
                  <a:sym typeface="Arimo Bold"/>
                </a:rPr>
                <a:t>KHỞI ĐỘNG</a:t>
              </a:r>
            </a:p>
          </p:txBody>
        </p:sp>
      </p:grpSp>
      <p:grpSp>
        <p:nvGrpSpPr>
          <p:cNvPr name="Group 12" id="12"/>
          <p:cNvGrpSpPr/>
          <p:nvPr/>
        </p:nvGrpSpPr>
        <p:grpSpPr>
          <a:xfrm rot="0">
            <a:off x="394335" y="9069705"/>
            <a:ext cx="996969" cy="85725"/>
            <a:chOff x="0" y="0"/>
            <a:chExt cx="1329292" cy="114300"/>
          </a:xfrm>
        </p:grpSpPr>
        <p:sp>
          <p:nvSpPr>
            <p:cNvPr name="Freeform 13" id="13"/>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4" id="14"/>
          <p:cNvGrpSpPr/>
          <p:nvPr/>
        </p:nvGrpSpPr>
        <p:grpSpPr>
          <a:xfrm rot="0">
            <a:off x="394335" y="9420225"/>
            <a:ext cx="996969" cy="85725"/>
            <a:chOff x="0" y="0"/>
            <a:chExt cx="1329292" cy="114300"/>
          </a:xfrm>
        </p:grpSpPr>
        <p:sp>
          <p:nvSpPr>
            <p:cNvPr name="Freeform 15" id="15"/>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6" id="16"/>
          <p:cNvGrpSpPr/>
          <p:nvPr/>
        </p:nvGrpSpPr>
        <p:grpSpPr>
          <a:xfrm rot="0">
            <a:off x="394335" y="9770745"/>
            <a:ext cx="996969" cy="85725"/>
            <a:chOff x="0" y="0"/>
            <a:chExt cx="1329292" cy="114300"/>
          </a:xfrm>
        </p:grpSpPr>
        <p:sp>
          <p:nvSpPr>
            <p:cNvPr name="Freeform 17" id="17"/>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8" id="18"/>
          <p:cNvGrpSpPr/>
          <p:nvPr/>
        </p:nvGrpSpPr>
        <p:grpSpPr>
          <a:xfrm rot="0">
            <a:off x="422910" y="289560"/>
            <a:ext cx="534352" cy="534352"/>
            <a:chOff x="0" y="0"/>
            <a:chExt cx="712470" cy="712470"/>
          </a:xfrm>
        </p:grpSpPr>
        <p:sp>
          <p:nvSpPr>
            <p:cNvPr name="Freeform 19" id="19"/>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0" id="20"/>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1" id="21"/>
          <p:cNvGrpSpPr/>
          <p:nvPr/>
        </p:nvGrpSpPr>
        <p:grpSpPr>
          <a:xfrm rot="0">
            <a:off x="1863090" y="289560"/>
            <a:ext cx="534352" cy="534352"/>
            <a:chOff x="0" y="0"/>
            <a:chExt cx="712470" cy="712470"/>
          </a:xfrm>
        </p:grpSpPr>
        <p:sp>
          <p:nvSpPr>
            <p:cNvPr name="Freeform 22" id="22"/>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3" id="23"/>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4" id="24"/>
          <p:cNvGrpSpPr/>
          <p:nvPr/>
        </p:nvGrpSpPr>
        <p:grpSpPr>
          <a:xfrm rot="0">
            <a:off x="1143000" y="289560"/>
            <a:ext cx="534352" cy="534352"/>
            <a:chOff x="0" y="0"/>
            <a:chExt cx="712470" cy="712470"/>
          </a:xfrm>
        </p:grpSpPr>
        <p:sp>
          <p:nvSpPr>
            <p:cNvPr name="Freeform 25" id="25"/>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6" id="26"/>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27" id="27"/>
          <p:cNvGrpSpPr/>
          <p:nvPr/>
        </p:nvGrpSpPr>
        <p:grpSpPr>
          <a:xfrm rot="0">
            <a:off x="2583180" y="289560"/>
            <a:ext cx="534353" cy="534352"/>
            <a:chOff x="0" y="0"/>
            <a:chExt cx="712470" cy="712470"/>
          </a:xfrm>
        </p:grpSpPr>
        <p:sp>
          <p:nvSpPr>
            <p:cNvPr name="Freeform 28" id="28"/>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9" id="29"/>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17282160" y="274470"/>
            <a:ext cx="597218" cy="57150"/>
            <a:chOff x="0" y="0"/>
            <a:chExt cx="796290" cy="76200"/>
          </a:xfrm>
        </p:grpSpPr>
        <p:sp>
          <p:nvSpPr>
            <p:cNvPr name="Freeform 5" id="5"/>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6" id="6"/>
          <p:cNvGrpSpPr/>
          <p:nvPr/>
        </p:nvGrpSpPr>
        <p:grpSpPr>
          <a:xfrm rot="0">
            <a:off x="17282160" y="482115"/>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689760"/>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360045" y="232410"/>
            <a:ext cx="483870" cy="485775"/>
            <a:chOff x="0" y="0"/>
            <a:chExt cx="645160" cy="647700"/>
          </a:xfrm>
        </p:grpSpPr>
        <p:sp>
          <p:nvSpPr>
            <p:cNvPr name="Freeform 11" id="11"/>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2" id="12"/>
          <p:cNvGrpSpPr/>
          <p:nvPr/>
        </p:nvGrpSpPr>
        <p:grpSpPr>
          <a:xfrm rot="0">
            <a:off x="764857" y="1641158"/>
            <a:ext cx="128588" cy="515302"/>
            <a:chOff x="0" y="0"/>
            <a:chExt cx="171450" cy="687070"/>
          </a:xfrm>
        </p:grpSpPr>
        <p:sp>
          <p:nvSpPr>
            <p:cNvPr name="Freeform 13" id="13"/>
            <p:cNvSpPr/>
            <p:nvPr/>
          </p:nvSpPr>
          <p:spPr>
            <a:xfrm flipH="false" flipV="false" rot="0">
              <a:off x="0" y="0"/>
              <a:ext cx="171450" cy="687070"/>
            </a:xfrm>
            <a:custGeom>
              <a:avLst/>
              <a:gdLst/>
              <a:ahLst/>
              <a:cxnLst/>
              <a:rect r="r" b="b" t="t" l="l"/>
              <a:pathLst>
                <a:path h="687070" w="171450">
                  <a:moveTo>
                    <a:pt x="0" y="0"/>
                  </a:moveTo>
                  <a:lnTo>
                    <a:pt x="171450" y="0"/>
                  </a:lnTo>
                  <a:lnTo>
                    <a:pt x="171450" y="687070"/>
                  </a:lnTo>
                  <a:lnTo>
                    <a:pt x="0" y="687070"/>
                  </a:lnTo>
                  <a:close/>
                </a:path>
              </a:pathLst>
            </a:custGeom>
            <a:solidFill>
              <a:srgbClr val="00B0F0"/>
            </a:solidFill>
            <a:ln w="12700">
              <a:solidFill>
                <a:srgbClr val="000000"/>
              </a:solidFill>
            </a:ln>
          </p:spPr>
        </p:sp>
      </p:grpSp>
      <p:grpSp>
        <p:nvGrpSpPr>
          <p:cNvPr name="Group 14" id="14"/>
          <p:cNvGrpSpPr>
            <a:grpSpLocks noChangeAspect="true"/>
          </p:cNvGrpSpPr>
          <p:nvPr/>
        </p:nvGrpSpPr>
        <p:grpSpPr>
          <a:xfrm rot="0">
            <a:off x="12923986" y="2801802"/>
            <a:ext cx="3741199" cy="5488751"/>
            <a:chOff x="0" y="0"/>
            <a:chExt cx="5347970" cy="7846060"/>
          </a:xfrm>
        </p:grpSpPr>
        <p:sp>
          <p:nvSpPr>
            <p:cNvPr name="Freeform 15" id="15" descr="https://kimi-img.moonshot.cn/pub/slides/slides_tmpl/image/25-08-27-19:57:43-d2nf5dp8bjvh7rlivt10.png"/>
            <p:cNvSpPr/>
            <p:nvPr/>
          </p:nvSpPr>
          <p:spPr>
            <a:xfrm flipH="false" flipV="false" rot="0">
              <a:off x="0" y="0"/>
              <a:ext cx="5347970" cy="7846060"/>
            </a:xfrm>
            <a:custGeom>
              <a:avLst/>
              <a:gdLst/>
              <a:ahLst/>
              <a:cxnLst/>
              <a:rect r="r" b="b" t="t" l="l"/>
              <a:pathLst>
                <a:path h="7846060" w="5347970">
                  <a:moveTo>
                    <a:pt x="0" y="0"/>
                  </a:moveTo>
                  <a:lnTo>
                    <a:pt x="5347970" y="0"/>
                  </a:lnTo>
                  <a:lnTo>
                    <a:pt x="5347970" y="7846060"/>
                  </a:lnTo>
                  <a:lnTo>
                    <a:pt x="0" y="7846060"/>
                  </a:lnTo>
                  <a:lnTo>
                    <a:pt x="0" y="0"/>
                  </a:lnTo>
                  <a:close/>
                </a:path>
              </a:pathLst>
            </a:custGeom>
            <a:blipFill>
              <a:blip r:embed="rId3"/>
              <a:stretch>
                <a:fillRect l="-30" t="0" r="-30" b="0"/>
              </a:stretch>
            </a:blipFill>
          </p:spPr>
        </p:sp>
      </p:grpSp>
      <p:sp>
        <p:nvSpPr>
          <p:cNvPr name="TextBox 16" id="16"/>
          <p:cNvSpPr txBox="true"/>
          <p:nvPr/>
        </p:nvSpPr>
        <p:spPr>
          <a:xfrm rot="0">
            <a:off x="1078706" y="1573769"/>
            <a:ext cx="6355080" cy="489585"/>
          </a:xfrm>
          <a:prstGeom prst="rect">
            <a:avLst/>
          </a:prstGeom>
        </p:spPr>
        <p:txBody>
          <a:bodyPr anchor="t" rtlCol="false" tIns="0" lIns="0" bIns="0" rIns="0">
            <a:spAutoFit/>
          </a:bodyPr>
          <a:lstStyle/>
          <a:p>
            <a:pPr algn="l">
              <a:lnSpc>
                <a:spcPts val="4320"/>
              </a:lnSpc>
            </a:pPr>
            <a:r>
              <a:rPr lang="en-US" sz="3600">
                <a:solidFill>
                  <a:srgbClr val="00B0F0"/>
                </a:solidFill>
                <a:latin typeface="Arimo"/>
                <a:ea typeface="Arimo"/>
                <a:cs typeface="Arimo"/>
                <a:sym typeface="Arimo"/>
              </a:rPr>
              <a:t>Tình huống khởi động</a:t>
            </a:r>
          </a:p>
        </p:txBody>
      </p:sp>
      <p:sp>
        <p:nvSpPr>
          <p:cNvPr name="TextBox 17" id="17"/>
          <p:cNvSpPr txBox="true"/>
          <p:nvPr/>
        </p:nvSpPr>
        <p:spPr>
          <a:xfrm rot="0">
            <a:off x="1590834" y="4013328"/>
            <a:ext cx="10506857" cy="2638425"/>
          </a:xfrm>
          <a:prstGeom prst="rect">
            <a:avLst/>
          </a:prstGeom>
        </p:spPr>
        <p:txBody>
          <a:bodyPr anchor="t" rtlCol="false" tIns="0" lIns="0" bIns="0" rIns="0">
            <a:spAutoFit/>
          </a:bodyPr>
          <a:lstStyle/>
          <a:p>
            <a:pPr algn="just">
              <a:lnSpc>
                <a:spcPts val="5040"/>
              </a:lnSpc>
            </a:pPr>
            <a:r>
              <a:rPr lang="en-US" sz="4200">
                <a:solidFill>
                  <a:srgbClr val="000000"/>
                </a:solidFill>
                <a:latin typeface="Calibri (MS)"/>
                <a:ea typeface="Calibri (MS)"/>
                <a:cs typeface="Calibri (MS)"/>
                <a:sym typeface="Calibri (MS)"/>
              </a:rPr>
              <a:t>“Giả sử em đã tạo biểu mẫu góp ý cho trang web của mình, làm thế nào để người truy cập có thể nhập thông tin phản hồi trực tiếp trên website đó?”</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38473" y="682138"/>
            <a:ext cx="5429250" cy="5869305"/>
            <a:chOff x="0" y="0"/>
            <a:chExt cx="7239000" cy="7825740"/>
          </a:xfrm>
        </p:grpSpPr>
        <p:sp>
          <p:nvSpPr>
            <p:cNvPr name="Freeform 3" id="3" descr="https://kimi-img.moonshot.cn/pub/slides/slides_tmpl/image/25-08-27-19:57:41-d2nf5d98bjvh7rlivsmg.png"/>
            <p:cNvSpPr/>
            <p:nvPr/>
          </p:nvSpPr>
          <p:spPr>
            <a:xfrm flipH="false" flipV="false" rot="0">
              <a:off x="0" y="0"/>
              <a:ext cx="7239000" cy="7825740"/>
            </a:xfrm>
            <a:custGeom>
              <a:avLst/>
              <a:gdLst/>
              <a:ahLst/>
              <a:cxnLst/>
              <a:rect r="r" b="b" t="t" l="l"/>
              <a:pathLst>
                <a:path h="7825740" w="7239000">
                  <a:moveTo>
                    <a:pt x="0" y="0"/>
                  </a:moveTo>
                  <a:lnTo>
                    <a:pt x="7239000" y="0"/>
                  </a:lnTo>
                  <a:lnTo>
                    <a:pt x="7239000" y="7825740"/>
                  </a:lnTo>
                  <a:lnTo>
                    <a:pt x="0" y="7825740"/>
                  </a:lnTo>
                  <a:lnTo>
                    <a:pt x="0" y="0"/>
                  </a:lnTo>
                  <a:close/>
                </a:path>
              </a:pathLst>
            </a:custGeom>
            <a:blipFill>
              <a:blip r:embed="rId3"/>
              <a:stretch>
                <a:fillRect l="-4" t="0" r="-4" b="0"/>
              </a:stretch>
            </a:blipFill>
          </p:spPr>
        </p:sp>
      </p:grpSp>
      <p:grpSp>
        <p:nvGrpSpPr>
          <p:cNvPr name="Group 4" id="4"/>
          <p:cNvGrpSpPr/>
          <p:nvPr/>
        </p:nvGrpSpPr>
        <p:grpSpPr>
          <a:xfrm rot="0">
            <a:off x="3027999" y="6705870"/>
            <a:ext cx="12860655" cy="2717214"/>
            <a:chOff x="0" y="0"/>
            <a:chExt cx="17147540" cy="3622952"/>
          </a:xfrm>
        </p:grpSpPr>
        <p:sp>
          <p:nvSpPr>
            <p:cNvPr name="Freeform 5" id="5"/>
            <p:cNvSpPr/>
            <p:nvPr/>
          </p:nvSpPr>
          <p:spPr>
            <a:xfrm flipH="false" flipV="false" rot="0">
              <a:off x="57150" y="57150"/>
              <a:ext cx="17033241" cy="3508756"/>
            </a:xfrm>
            <a:custGeom>
              <a:avLst/>
              <a:gdLst/>
              <a:ahLst/>
              <a:cxnLst/>
              <a:rect r="r" b="b" t="t" l="l"/>
              <a:pathLst>
                <a:path h="3508756" w="17033241">
                  <a:moveTo>
                    <a:pt x="0" y="1754378"/>
                  </a:moveTo>
                  <a:cubicBezTo>
                    <a:pt x="0" y="785495"/>
                    <a:pt x="805561" y="0"/>
                    <a:pt x="1799463" y="0"/>
                  </a:cubicBezTo>
                  <a:lnTo>
                    <a:pt x="15233777" y="0"/>
                  </a:lnTo>
                  <a:cubicBezTo>
                    <a:pt x="16227552" y="0"/>
                    <a:pt x="17033241" y="785495"/>
                    <a:pt x="17033241" y="1754378"/>
                  </a:cubicBezTo>
                  <a:cubicBezTo>
                    <a:pt x="17033241" y="2723261"/>
                    <a:pt x="16227679" y="3508756"/>
                    <a:pt x="15233777" y="3508756"/>
                  </a:cubicBezTo>
                  <a:lnTo>
                    <a:pt x="1799463" y="3508756"/>
                  </a:lnTo>
                  <a:cubicBezTo>
                    <a:pt x="805561" y="3508629"/>
                    <a:pt x="0" y="2723261"/>
                    <a:pt x="0" y="1754378"/>
                  </a:cubicBezTo>
                  <a:close/>
                </a:path>
              </a:pathLst>
            </a:custGeom>
            <a:solidFill>
              <a:srgbClr val="00B0F0"/>
            </a:solidFill>
            <a:ln w="12700">
              <a:solidFill>
                <a:srgbClr val="000000"/>
              </a:solidFill>
            </a:ln>
          </p:spPr>
        </p:sp>
      </p:grpSp>
      <p:grpSp>
        <p:nvGrpSpPr>
          <p:cNvPr name="Group 6" id="6"/>
          <p:cNvGrpSpPr/>
          <p:nvPr/>
        </p:nvGrpSpPr>
        <p:grpSpPr>
          <a:xfrm rot="0">
            <a:off x="2837498" y="6311290"/>
            <a:ext cx="13051155" cy="2857476"/>
            <a:chOff x="0" y="0"/>
            <a:chExt cx="17401540" cy="3809968"/>
          </a:xfrm>
        </p:grpSpPr>
        <p:sp>
          <p:nvSpPr>
            <p:cNvPr name="Freeform 7" id="7"/>
            <p:cNvSpPr/>
            <p:nvPr/>
          </p:nvSpPr>
          <p:spPr>
            <a:xfrm flipH="false" flipV="false" rot="0">
              <a:off x="57150" y="57150"/>
              <a:ext cx="17287239" cy="3695700"/>
            </a:xfrm>
            <a:custGeom>
              <a:avLst/>
              <a:gdLst/>
              <a:ahLst/>
              <a:cxnLst/>
              <a:rect r="r" b="b" t="t" l="l"/>
              <a:pathLst>
                <a:path h="3695700" w="17287239">
                  <a:moveTo>
                    <a:pt x="0" y="1847850"/>
                  </a:moveTo>
                  <a:cubicBezTo>
                    <a:pt x="0" y="827278"/>
                    <a:pt x="847344" y="0"/>
                    <a:pt x="1892427" y="0"/>
                  </a:cubicBezTo>
                  <a:lnTo>
                    <a:pt x="15394812" y="0"/>
                  </a:lnTo>
                  <a:cubicBezTo>
                    <a:pt x="16440023" y="0"/>
                    <a:pt x="17287239" y="827278"/>
                    <a:pt x="17287239" y="1847850"/>
                  </a:cubicBezTo>
                  <a:cubicBezTo>
                    <a:pt x="17287239" y="2868422"/>
                    <a:pt x="16439896" y="3695700"/>
                    <a:pt x="15394812" y="3695700"/>
                  </a:cubicBezTo>
                  <a:lnTo>
                    <a:pt x="1892427" y="3695700"/>
                  </a:lnTo>
                  <a:cubicBezTo>
                    <a:pt x="847344" y="3695700"/>
                    <a:pt x="0" y="2868422"/>
                    <a:pt x="0" y="1847850"/>
                  </a:cubicBezTo>
                  <a:close/>
                </a:path>
              </a:pathLst>
            </a:custGeom>
            <a:solidFill>
              <a:srgbClr val="FFFFFF"/>
            </a:solidFill>
            <a:ln w="12700">
              <a:solidFill>
                <a:srgbClr val="000000"/>
              </a:solidFill>
            </a:ln>
          </p:spPr>
        </p:sp>
        <p:sp>
          <p:nvSpPr>
            <p:cNvPr name="Freeform 8" id="8"/>
            <p:cNvSpPr/>
            <p:nvPr/>
          </p:nvSpPr>
          <p:spPr>
            <a:xfrm flipH="false" flipV="false" rot="0">
              <a:off x="0" y="0"/>
              <a:ext cx="17401539" cy="3810000"/>
            </a:xfrm>
            <a:custGeom>
              <a:avLst/>
              <a:gdLst/>
              <a:ahLst/>
              <a:cxnLst/>
              <a:rect r="r" b="b" t="t" l="l"/>
              <a:pathLst>
                <a:path h="3810000" w="17401539">
                  <a:moveTo>
                    <a:pt x="0" y="1905000"/>
                  </a:moveTo>
                  <a:cubicBezTo>
                    <a:pt x="0" y="851662"/>
                    <a:pt x="874141" y="0"/>
                    <a:pt x="1949577" y="0"/>
                  </a:cubicBezTo>
                  <a:lnTo>
                    <a:pt x="15451962" y="0"/>
                  </a:lnTo>
                  <a:lnTo>
                    <a:pt x="15451962" y="57150"/>
                  </a:lnTo>
                  <a:lnTo>
                    <a:pt x="15451962" y="0"/>
                  </a:lnTo>
                  <a:cubicBezTo>
                    <a:pt x="16527399" y="0"/>
                    <a:pt x="17401539" y="851662"/>
                    <a:pt x="17401539" y="1905000"/>
                  </a:cubicBezTo>
                  <a:lnTo>
                    <a:pt x="17344389" y="1905000"/>
                  </a:lnTo>
                  <a:lnTo>
                    <a:pt x="17401539" y="1905000"/>
                  </a:lnTo>
                  <a:lnTo>
                    <a:pt x="17344389" y="1905000"/>
                  </a:lnTo>
                  <a:lnTo>
                    <a:pt x="17401539" y="1905000"/>
                  </a:lnTo>
                  <a:cubicBezTo>
                    <a:pt x="17401539" y="2958338"/>
                    <a:pt x="16527399" y="3810000"/>
                    <a:pt x="15451962" y="3810000"/>
                  </a:cubicBezTo>
                  <a:lnTo>
                    <a:pt x="15451962" y="3752850"/>
                  </a:lnTo>
                  <a:lnTo>
                    <a:pt x="15451962" y="3810000"/>
                  </a:lnTo>
                  <a:lnTo>
                    <a:pt x="1949577" y="3810000"/>
                  </a:lnTo>
                  <a:lnTo>
                    <a:pt x="1949577" y="3752850"/>
                  </a:lnTo>
                  <a:lnTo>
                    <a:pt x="1949577" y="3810000"/>
                  </a:lnTo>
                  <a:cubicBezTo>
                    <a:pt x="874141" y="3810000"/>
                    <a:pt x="0" y="2958338"/>
                    <a:pt x="0" y="1905000"/>
                  </a:cubicBezTo>
                  <a:cubicBezTo>
                    <a:pt x="0" y="1873377"/>
                    <a:pt x="25527" y="1847850"/>
                    <a:pt x="57150" y="1847850"/>
                  </a:cubicBezTo>
                  <a:lnTo>
                    <a:pt x="57150" y="1905000"/>
                  </a:lnTo>
                  <a:lnTo>
                    <a:pt x="0" y="1905000"/>
                  </a:lnTo>
                  <a:moveTo>
                    <a:pt x="114300" y="1905000"/>
                  </a:moveTo>
                  <a:cubicBezTo>
                    <a:pt x="114300" y="1936623"/>
                    <a:pt x="88773" y="1962150"/>
                    <a:pt x="57150" y="1962150"/>
                  </a:cubicBezTo>
                  <a:lnTo>
                    <a:pt x="57150" y="1905000"/>
                  </a:lnTo>
                  <a:lnTo>
                    <a:pt x="114300" y="1905000"/>
                  </a:lnTo>
                  <a:cubicBezTo>
                    <a:pt x="114300" y="2892679"/>
                    <a:pt x="934720" y="3695700"/>
                    <a:pt x="1949577" y="3695700"/>
                  </a:cubicBezTo>
                  <a:lnTo>
                    <a:pt x="15451962" y="3695700"/>
                  </a:lnTo>
                  <a:cubicBezTo>
                    <a:pt x="16466820" y="3695700"/>
                    <a:pt x="17287239" y="2892679"/>
                    <a:pt x="17287239" y="1905000"/>
                  </a:cubicBezTo>
                  <a:cubicBezTo>
                    <a:pt x="17287239" y="917321"/>
                    <a:pt x="16466820" y="114300"/>
                    <a:pt x="15451962" y="114300"/>
                  </a:cubicBezTo>
                  <a:lnTo>
                    <a:pt x="1949577" y="114300"/>
                  </a:lnTo>
                  <a:lnTo>
                    <a:pt x="1949577" y="57150"/>
                  </a:lnTo>
                  <a:lnTo>
                    <a:pt x="1949577" y="114300"/>
                  </a:lnTo>
                  <a:cubicBezTo>
                    <a:pt x="934720" y="114300"/>
                    <a:pt x="114300" y="917321"/>
                    <a:pt x="114300" y="1905000"/>
                  </a:cubicBezTo>
                  <a:close/>
                </a:path>
              </a:pathLst>
            </a:custGeom>
            <a:solidFill>
              <a:srgbClr val="000000"/>
            </a:solidFill>
            <a:ln w="12700">
              <a:solidFill>
                <a:srgbClr val="000000"/>
              </a:solidFill>
            </a:ln>
          </p:spPr>
        </p:sp>
      </p:grpSp>
      <p:grpSp>
        <p:nvGrpSpPr>
          <p:cNvPr name="Group 9" id="9"/>
          <p:cNvGrpSpPr/>
          <p:nvPr/>
        </p:nvGrpSpPr>
        <p:grpSpPr>
          <a:xfrm rot="0">
            <a:off x="2850356" y="6424284"/>
            <a:ext cx="12774930" cy="2631489"/>
            <a:chOff x="0" y="0"/>
            <a:chExt cx="17033240" cy="3508652"/>
          </a:xfrm>
        </p:grpSpPr>
        <p:sp>
          <p:nvSpPr>
            <p:cNvPr name="Freeform 10" id="10"/>
            <p:cNvSpPr/>
            <p:nvPr/>
          </p:nvSpPr>
          <p:spPr>
            <a:xfrm flipH="false" flipV="false" rot="0">
              <a:off x="0" y="0"/>
              <a:ext cx="17033239" cy="3508652"/>
            </a:xfrm>
            <a:custGeom>
              <a:avLst/>
              <a:gdLst/>
              <a:ahLst/>
              <a:cxnLst/>
              <a:rect r="r" b="b" t="t" l="l"/>
              <a:pathLst>
                <a:path h="3508652" w="17033239">
                  <a:moveTo>
                    <a:pt x="0" y="0"/>
                  </a:moveTo>
                  <a:lnTo>
                    <a:pt x="17033239" y="0"/>
                  </a:lnTo>
                  <a:lnTo>
                    <a:pt x="17033239" y="3508652"/>
                  </a:lnTo>
                  <a:lnTo>
                    <a:pt x="0" y="3508652"/>
                  </a:lnTo>
                  <a:close/>
                </a:path>
              </a:pathLst>
            </a:custGeom>
            <a:solidFill>
              <a:srgbClr val="000000">
                <a:alpha val="0"/>
              </a:srgbClr>
            </a:solidFill>
          </p:spPr>
        </p:sp>
        <p:sp>
          <p:nvSpPr>
            <p:cNvPr name="TextBox 11" id="11"/>
            <p:cNvSpPr txBox="true"/>
            <p:nvPr/>
          </p:nvSpPr>
          <p:spPr>
            <a:xfrm>
              <a:off x="0" y="-28575"/>
              <a:ext cx="17033240" cy="3537227"/>
            </a:xfrm>
            <a:prstGeom prst="rect">
              <a:avLst/>
            </a:prstGeom>
          </p:spPr>
          <p:txBody>
            <a:bodyPr anchor="ctr" rtlCol="false" tIns="0" lIns="0" bIns="0" rIns="0"/>
            <a:lstStyle/>
            <a:p>
              <a:pPr algn="ctr">
                <a:lnSpc>
                  <a:spcPts val="9720"/>
                </a:lnSpc>
              </a:pPr>
              <a:r>
                <a:rPr lang="en-US" sz="8100" b="true">
                  <a:solidFill>
                    <a:srgbClr val="000000"/>
                  </a:solidFill>
                  <a:latin typeface="Arimo Bold"/>
                  <a:ea typeface="Arimo Bold"/>
                  <a:cs typeface="Arimo Bold"/>
                  <a:sym typeface="Arimo Bold"/>
                </a:rPr>
                <a:t>NHÚNG BIỂU MẪU </a:t>
              </a:r>
            </a:p>
            <a:p>
              <a:pPr algn="ctr">
                <a:lnSpc>
                  <a:spcPts val="9720"/>
                </a:lnSpc>
              </a:pPr>
              <a:r>
                <a:rPr lang="en-US" sz="8100" b="true">
                  <a:solidFill>
                    <a:srgbClr val="000000"/>
                  </a:solidFill>
                  <a:latin typeface="Arimo Bold"/>
                  <a:ea typeface="Arimo Bold"/>
                  <a:cs typeface="Arimo Bold"/>
                  <a:sym typeface="Arimo Bold"/>
                </a:rPr>
                <a:t>VÀO TRANG WEB</a:t>
              </a:r>
            </a:p>
          </p:txBody>
        </p:sp>
      </p:grpSp>
      <p:grpSp>
        <p:nvGrpSpPr>
          <p:cNvPr name="Group 12" id="12"/>
          <p:cNvGrpSpPr/>
          <p:nvPr/>
        </p:nvGrpSpPr>
        <p:grpSpPr>
          <a:xfrm rot="0">
            <a:off x="394335" y="9069705"/>
            <a:ext cx="996969" cy="85725"/>
            <a:chOff x="0" y="0"/>
            <a:chExt cx="1329292" cy="114300"/>
          </a:xfrm>
        </p:grpSpPr>
        <p:sp>
          <p:nvSpPr>
            <p:cNvPr name="Freeform 13" id="13"/>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4" id="14"/>
          <p:cNvGrpSpPr/>
          <p:nvPr/>
        </p:nvGrpSpPr>
        <p:grpSpPr>
          <a:xfrm rot="0">
            <a:off x="394335" y="9420225"/>
            <a:ext cx="996969" cy="85725"/>
            <a:chOff x="0" y="0"/>
            <a:chExt cx="1329292" cy="114300"/>
          </a:xfrm>
        </p:grpSpPr>
        <p:sp>
          <p:nvSpPr>
            <p:cNvPr name="Freeform 15" id="15"/>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6" id="16"/>
          <p:cNvGrpSpPr/>
          <p:nvPr/>
        </p:nvGrpSpPr>
        <p:grpSpPr>
          <a:xfrm rot="0">
            <a:off x="394335" y="9770745"/>
            <a:ext cx="996969" cy="85725"/>
            <a:chOff x="0" y="0"/>
            <a:chExt cx="1329292" cy="114300"/>
          </a:xfrm>
        </p:grpSpPr>
        <p:sp>
          <p:nvSpPr>
            <p:cNvPr name="Freeform 17" id="17"/>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8" id="18"/>
          <p:cNvGrpSpPr/>
          <p:nvPr/>
        </p:nvGrpSpPr>
        <p:grpSpPr>
          <a:xfrm rot="0">
            <a:off x="422910" y="289560"/>
            <a:ext cx="534352" cy="534352"/>
            <a:chOff x="0" y="0"/>
            <a:chExt cx="712470" cy="712470"/>
          </a:xfrm>
        </p:grpSpPr>
        <p:sp>
          <p:nvSpPr>
            <p:cNvPr name="Freeform 19" id="19"/>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0" id="20"/>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1" id="21"/>
          <p:cNvGrpSpPr/>
          <p:nvPr/>
        </p:nvGrpSpPr>
        <p:grpSpPr>
          <a:xfrm rot="0">
            <a:off x="1863090" y="289560"/>
            <a:ext cx="534352" cy="534352"/>
            <a:chOff x="0" y="0"/>
            <a:chExt cx="712470" cy="712470"/>
          </a:xfrm>
        </p:grpSpPr>
        <p:sp>
          <p:nvSpPr>
            <p:cNvPr name="Freeform 22" id="22"/>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3" id="23"/>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4" id="24"/>
          <p:cNvGrpSpPr/>
          <p:nvPr/>
        </p:nvGrpSpPr>
        <p:grpSpPr>
          <a:xfrm rot="0">
            <a:off x="1143000" y="289560"/>
            <a:ext cx="534352" cy="534352"/>
            <a:chOff x="0" y="0"/>
            <a:chExt cx="712470" cy="712470"/>
          </a:xfrm>
        </p:grpSpPr>
        <p:sp>
          <p:nvSpPr>
            <p:cNvPr name="Freeform 25" id="25"/>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6" id="26"/>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27" id="27"/>
          <p:cNvGrpSpPr/>
          <p:nvPr/>
        </p:nvGrpSpPr>
        <p:grpSpPr>
          <a:xfrm rot="0">
            <a:off x="2583180" y="289560"/>
            <a:ext cx="534353" cy="534352"/>
            <a:chOff x="0" y="0"/>
            <a:chExt cx="712470" cy="712470"/>
          </a:xfrm>
        </p:grpSpPr>
        <p:sp>
          <p:nvSpPr>
            <p:cNvPr name="Freeform 28" id="28"/>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9" id="29"/>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3330892" y="194310"/>
            <a:ext cx="11596688" cy="671512"/>
            <a:chOff x="0" y="0"/>
            <a:chExt cx="15462250" cy="895350"/>
          </a:xfrm>
        </p:grpSpPr>
        <p:sp>
          <p:nvSpPr>
            <p:cNvPr name="Freeform 5" id="5"/>
            <p:cNvSpPr/>
            <p:nvPr/>
          </p:nvSpPr>
          <p:spPr>
            <a:xfrm flipH="false" flipV="false" rot="0">
              <a:off x="0" y="0"/>
              <a:ext cx="15462250" cy="895350"/>
            </a:xfrm>
            <a:custGeom>
              <a:avLst/>
              <a:gdLst/>
              <a:ahLst/>
              <a:cxnLst/>
              <a:rect r="r" b="b" t="t" l="l"/>
              <a:pathLst>
                <a:path h="895350" w="15462250">
                  <a:moveTo>
                    <a:pt x="0" y="447675"/>
                  </a:moveTo>
                  <a:cubicBezTo>
                    <a:pt x="0" y="200406"/>
                    <a:pt x="200406" y="0"/>
                    <a:pt x="447675" y="0"/>
                  </a:cubicBezTo>
                  <a:lnTo>
                    <a:pt x="15014575" y="0"/>
                  </a:lnTo>
                  <a:cubicBezTo>
                    <a:pt x="15261844" y="0"/>
                    <a:pt x="15462250" y="200406"/>
                    <a:pt x="15462250" y="447675"/>
                  </a:cubicBezTo>
                  <a:cubicBezTo>
                    <a:pt x="15462250" y="694944"/>
                    <a:pt x="15261844" y="895350"/>
                    <a:pt x="15014575" y="895350"/>
                  </a:cubicBezTo>
                  <a:lnTo>
                    <a:pt x="447675" y="895350"/>
                  </a:lnTo>
                  <a:cubicBezTo>
                    <a:pt x="200406" y="895350"/>
                    <a:pt x="0" y="694944"/>
                    <a:pt x="0" y="447675"/>
                  </a:cubicBezTo>
                  <a:close/>
                </a:path>
              </a:pathLst>
            </a:custGeom>
            <a:solidFill>
              <a:srgbClr val="FFFFFF"/>
            </a:solidFill>
            <a:ln w="12700">
              <a:solidFill>
                <a:srgbClr val="000000"/>
              </a:solidFill>
            </a:ln>
          </p:spPr>
        </p:sp>
      </p:grpSp>
      <p:grpSp>
        <p:nvGrpSpPr>
          <p:cNvPr name="Group 6" id="6"/>
          <p:cNvGrpSpPr/>
          <p:nvPr/>
        </p:nvGrpSpPr>
        <p:grpSpPr>
          <a:xfrm rot="0">
            <a:off x="17282160" y="274470"/>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482115"/>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17282160" y="689760"/>
            <a:ext cx="597218" cy="57150"/>
            <a:chOff x="0" y="0"/>
            <a:chExt cx="796290" cy="76200"/>
          </a:xfrm>
        </p:grpSpPr>
        <p:sp>
          <p:nvSpPr>
            <p:cNvPr name="Freeform 11" id="11"/>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2" id="12"/>
          <p:cNvGrpSpPr/>
          <p:nvPr/>
        </p:nvGrpSpPr>
        <p:grpSpPr>
          <a:xfrm rot="0">
            <a:off x="360045" y="232410"/>
            <a:ext cx="483870" cy="485775"/>
            <a:chOff x="0" y="0"/>
            <a:chExt cx="645160" cy="647700"/>
          </a:xfrm>
        </p:grpSpPr>
        <p:sp>
          <p:nvSpPr>
            <p:cNvPr name="Freeform 13" id="13"/>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4" id="14"/>
          <p:cNvGrpSpPr/>
          <p:nvPr/>
        </p:nvGrpSpPr>
        <p:grpSpPr>
          <a:xfrm rot="0">
            <a:off x="3384233" y="213360"/>
            <a:ext cx="11249978" cy="552450"/>
            <a:chOff x="0" y="0"/>
            <a:chExt cx="14999970" cy="736600"/>
          </a:xfrm>
        </p:grpSpPr>
        <p:sp>
          <p:nvSpPr>
            <p:cNvPr name="Freeform 15" id="15"/>
            <p:cNvSpPr/>
            <p:nvPr/>
          </p:nvSpPr>
          <p:spPr>
            <a:xfrm flipH="false" flipV="false" rot="0">
              <a:off x="0" y="0"/>
              <a:ext cx="14999970" cy="736600"/>
            </a:xfrm>
            <a:custGeom>
              <a:avLst/>
              <a:gdLst/>
              <a:ahLst/>
              <a:cxnLst/>
              <a:rect r="r" b="b" t="t" l="l"/>
              <a:pathLst>
                <a:path h="736600" w="14999970">
                  <a:moveTo>
                    <a:pt x="0" y="0"/>
                  </a:moveTo>
                  <a:lnTo>
                    <a:pt x="14999970" y="0"/>
                  </a:lnTo>
                  <a:lnTo>
                    <a:pt x="14999970" y="736600"/>
                  </a:lnTo>
                  <a:lnTo>
                    <a:pt x="0" y="736600"/>
                  </a:lnTo>
                  <a:close/>
                </a:path>
              </a:pathLst>
            </a:custGeom>
            <a:solidFill>
              <a:srgbClr val="000000">
                <a:alpha val="0"/>
              </a:srgbClr>
            </a:solidFill>
          </p:spPr>
        </p:sp>
        <p:sp>
          <p:nvSpPr>
            <p:cNvPr name="TextBox 16" id="16"/>
            <p:cNvSpPr txBox="true"/>
            <p:nvPr/>
          </p:nvSpPr>
          <p:spPr>
            <a:xfrm>
              <a:off x="0" y="-28575"/>
              <a:ext cx="14999970" cy="765175"/>
            </a:xfrm>
            <a:prstGeom prst="rect">
              <a:avLst/>
            </a:prstGeom>
          </p:spPr>
          <p:txBody>
            <a:bodyPr anchor="ctr" rtlCol="false" tIns="0" lIns="0" bIns="0" rIns="0"/>
            <a:lstStyle/>
            <a:p>
              <a:pPr algn="ctr">
                <a:lnSpc>
                  <a:spcPts val="4320"/>
                </a:lnSpc>
              </a:pPr>
              <a:r>
                <a:rPr lang="en-US" sz="3600">
                  <a:solidFill>
                    <a:srgbClr val="000000"/>
                  </a:solidFill>
                  <a:latin typeface="Arimo"/>
                  <a:ea typeface="Arimo"/>
                  <a:cs typeface="Arimo"/>
                  <a:sym typeface="Arimo"/>
                </a:rPr>
                <a:t>Các bước nhúng Forms vào web</a:t>
              </a:r>
            </a:p>
          </p:txBody>
        </p:sp>
      </p:grpSp>
      <p:grpSp>
        <p:nvGrpSpPr>
          <p:cNvPr name="Group 17" id="17"/>
          <p:cNvGrpSpPr/>
          <p:nvPr/>
        </p:nvGrpSpPr>
        <p:grpSpPr>
          <a:xfrm rot="0">
            <a:off x="0" y="9930765"/>
            <a:ext cx="18288000" cy="356235"/>
            <a:chOff x="0" y="0"/>
            <a:chExt cx="24384000" cy="474980"/>
          </a:xfrm>
        </p:grpSpPr>
        <p:sp>
          <p:nvSpPr>
            <p:cNvPr name="Freeform 18" id="18"/>
            <p:cNvSpPr/>
            <p:nvPr/>
          </p:nvSpPr>
          <p:spPr>
            <a:xfrm flipH="false" flipV="false" rot="0">
              <a:off x="0" y="0"/>
              <a:ext cx="24384000" cy="474980"/>
            </a:xfrm>
            <a:custGeom>
              <a:avLst/>
              <a:gdLst/>
              <a:ahLst/>
              <a:cxnLst/>
              <a:rect r="r" b="b" t="t" l="l"/>
              <a:pathLst>
                <a:path h="474980" w="24384000">
                  <a:moveTo>
                    <a:pt x="0" y="0"/>
                  </a:moveTo>
                  <a:lnTo>
                    <a:pt x="24384000" y="0"/>
                  </a:lnTo>
                  <a:lnTo>
                    <a:pt x="24384000" y="474980"/>
                  </a:lnTo>
                  <a:lnTo>
                    <a:pt x="0" y="474980"/>
                  </a:lnTo>
                  <a:close/>
                </a:path>
              </a:pathLst>
            </a:custGeom>
            <a:solidFill>
              <a:srgbClr val="00B0F0"/>
            </a:solidFill>
            <a:ln w="12700">
              <a:solidFill>
                <a:srgbClr val="000000"/>
              </a:solidFill>
            </a:ln>
          </p:spPr>
        </p:sp>
      </p:grpSp>
      <p:grpSp>
        <p:nvGrpSpPr>
          <p:cNvPr name="Group 19" id="19"/>
          <p:cNvGrpSpPr/>
          <p:nvPr/>
        </p:nvGrpSpPr>
        <p:grpSpPr>
          <a:xfrm rot="0">
            <a:off x="-19050" y="5372100"/>
            <a:ext cx="18382298" cy="3426143"/>
            <a:chOff x="0" y="0"/>
            <a:chExt cx="24509730" cy="4568190"/>
          </a:xfrm>
        </p:grpSpPr>
        <p:sp>
          <p:nvSpPr>
            <p:cNvPr name="Freeform 20" id="20"/>
            <p:cNvSpPr/>
            <p:nvPr/>
          </p:nvSpPr>
          <p:spPr>
            <a:xfrm flipH="false" flipV="false" rot="0">
              <a:off x="0" y="0"/>
              <a:ext cx="24509730" cy="4568190"/>
            </a:xfrm>
            <a:custGeom>
              <a:avLst/>
              <a:gdLst/>
              <a:ahLst/>
              <a:cxnLst/>
              <a:rect r="r" b="b" t="t" l="l"/>
              <a:pathLst>
                <a:path h="4568190" w="24509730">
                  <a:moveTo>
                    <a:pt x="0" y="0"/>
                  </a:moveTo>
                  <a:lnTo>
                    <a:pt x="24509730" y="0"/>
                  </a:lnTo>
                  <a:lnTo>
                    <a:pt x="24509730" y="4568190"/>
                  </a:lnTo>
                  <a:lnTo>
                    <a:pt x="0" y="4568190"/>
                  </a:lnTo>
                  <a:close/>
                </a:path>
              </a:pathLst>
            </a:custGeom>
            <a:solidFill>
              <a:srgbClr val="00B0F0"/>
            </a:solidFill>
            <a:ln w="12700">
              <a:solidFill>
                <a:srgbClr val="000000"/>
              </a:solidFill>
            </a:ln>
          </p:spPr>
        </p:sp>
      </p:grpSp>
      <p:grpSp>
        <p:nvGrpSpPr>
          <p:cNvPr name="Group 21" id="21"/>
          <p:cNvGrpSpPr>
            <a:grpSpLocks noChangeAspect="true"/>
          </p:cNvGrpSpPr>
          <p:nvPr/>
        </p:nvGrpSpPr>
        <p:grpSpPr>
          <a:xfrm rot="0">
            <a:off x="10631805" y="1133475"/>
            <a:ext cx="7469505" cy="8074343"/>
            <a:chOff x="0" y="0"/>
            <a:chExt cx="9959340" cy="10765790"/>
          </a:xfrm>
        </p:grpSpPr>
        <p:sp>
          <p:nvSpPr>
            <p:cNvPr name="Freeform 22" id="22" descr="https://kimi-img.moonshot.cn/pub/slides/slides_tmpl/image/25-08-27-19:57:41-d2nf5d98bjvh7rlivsmg.png"/>
            <p:cNvSpPr/>
            <p:nvPr/>
          </p:nvSpPr>
          <p:spPr>
            <a:xfrm flipH="true" flipV="false" rot="0">
              <a:off x="0" y="0"/>
              <a:ext cx="9959340" cy="10765790"/>
            </a:xfrm>
            <a:custGeom>
              <a:avLst/>
              <a:gdLst/>
              <a:ahLst/>
              <a:cxnLst/>
              <a:rect r="r" b="b" t="t" l="l"/>
              <a:pathLst>
                <a:path h="10765790" w="9959340">
                  <a:moveTo>
                    <a:pt x="9959340" y="0"/>
                  </a:moveTo>
                  <a:lnTo>
                    <a:pt x="0" y="0"/>
                  </a:lnTo>
                  <a:lnTo>
                    <a:pt x="0" y="10765790"/>
                  </a:lnTo>
                  <a:lnTo>
                    <a:pt x="9959340" y="10765790"/>
                  </a:lnTo>
                  <a:lnTo>
                    <a:pt x="9959340" y="0"/>
                  </a:lnTo>
                  <a:close/>
                </a:path>
              </a:pathLst>
            </a:custGeom>
            <a:blipFill>
              <a:blip r:embed="rId3"/>
              <a:stretch>
                <a:fillRect l="0" t="0" r="0" b="0"/>
              </a:stretch>
            </a:blipFill>
          </p:spPr>
        </p:sp>
      </p:grpSp>
      <p:sp>
        <p:nvSpPr>
          <p:cNvPr name="TextBox 23" id="23"/>
          <p:cNvSpPr txBox="true"/>
          <p:nvPr/>
        </p:nvSpPr>
        <p:spPr>
          <a:xfrm rot="0">
            <a:off x="665798" y="4188142"/>
            <a:ext cx="9522143" cy="658952"/>
          </a:xfrm>
          <a:prstGeom prst="rect">
            <a:avLst/>
          </a:prstGeom>
        </p:spPr>
        <p:txBody>
          <a:bodyPr anchor="t" rtlCol="false" tIns="0" lIns="0" bIns="0" rIns="0">
            <a:spAutoFit/>
          </a:bodyPr>
          <a:lstStyle/>
          <a:p>
            <a:pPr algn="l">
              <a:lnSpc>
                <a:spcPts val="5759"/>
              </a:lnSpc>
            </a:pPr>
            <a:r>
              <a:rPr lang="en-US" sz="4800" b="true">
                <a:solidFill>
                  <a:srgbClr val="000000"/>
                </a:solidFill>
                <a:latin typeface="Arimo Bold"/>
                <a:ea typeface="Arimo Bold"/>
                <a:cs typeface="Arimo Bold"/>
                <a:sym typeface="Arimo Bold"/>
              </a:rPr>
              <a:t>Các bước thực hiện</a:t>
            </a:r>
          </a:p>
        </p:txBody>
      </p:sp>
      <p:sp>
        <p:nvSpPr>
          <p:cNvPr name="TextBox 24" id="24"/>
          <p:cNvSpPr txBox="true"/>
          <p:nvPr/>
        </p:nvSpPr>
        <p:spPr>
          <a:xfrm rot="0">
            <a:off x="665797" y="5650230"/>
            <a:ext cx="9625012" cy="2339340"/>
          </a:xfrm>
          <a:prstGeom prst="rect">
            <a:avLst/>
          </a:prstGeom>
        </p:spPr>
        <p:txBody>
          <a:bodyPr anchor="t" rtlCol="false" tIns="0" lIns="0" bIns="0" rIns="0">
            <a:spAutoFit/>
          </a:bodyPr>
          <a:lstStyle/>
          <a:p>
            <a:pPr algn="just">
              <a:lnSpc>
                <a:spcPts val="4680"/>
              </a:lnSpc>
            </a:pPr>
            <a:r>
              <a:rPr lang="en-US" sz="3000">
                <a:solidFill>
                  <a:srgbClr val="FFFFFF"/>
                </a:solidFill>
                <a:latin typeface="Arimo"/>
                <a:ea typeface="Arimo"/>
                <a:cs typeface="Arimo"/>
                <a:sym typeface="Arimo"/>
              </a:rPr>
              <a:t>Chọn </a:t>
            </a:r>
            <a:r>
              <a:rPr lang="en-US" sz="3000" b="true">
                <a:solidFill>
                  <a:srgbClr val="FFFFFF"/>
                </a:solidFill>
                <a:latin typeface="Arimo Bold"/>
                <a:ea typeface="Arimo Bold"/>
                <a:cs typeface="Arimo Bold"/>
                <a:sym typeface="Arimo Bold"/>
              </a:rPr>
              <a:t>Chèn</a:t>
            </a:r>
            <a:r>
              <a:rPr lang="en-US" sz="3000">
                <a:solidFill>
                  <a:srgbClr val="FFFFFF"/>
                </a:solidFill>
                <a:latin typeface="Arimo"/>
                <a:ea typeface="Arimo"/>
                <a:cs typeface="Arimo"/>
                <a:sym typeface="Arimo"/>
              </a:rPr>
              <a:t> → </a:t>
            </a:r>
            <a:r>
              <a:rPr lang="en-US" sz="3000" b="true">
                <a:solidFill>
                  <a:srgbClr val="FFFFFF"/>
                </a:solidFill>
                <a:latin typeface="Arimo Bold"/>
                <a:ea typeface="Arimo Bold"/>
                <a:cs typeface="Arimo Bold"/>
                <a:sym typeface="Arimo Bold"/>
              </a:rPr>
              <a:t>Biểu mẫu </a:t>
            </a:r>
            <a:r>
              <a:rPr lang="en-US" sz="3000">
                <a:solidFill>
                  <a:srgbClr val="FFFFFF"/>
                </a:solidFill>
                <a:latin typeface="Arimo"/>
                <a:ea typeface="Arimo"/>
                <a:cs typeface="Arimo"/>
                <a:sym typeface="Arimo"/>
              </a:rPr>
              <a:t>→ tìm 'Ý kiến phản hồi của bạn' → nhấn Chèn. Biểu mẫu sẽ tự động hiện ở cuối trang. Sau đó, bạn có thể điều chỉnh khung và khoảng cách để phù hợp với giao diện của trang web.</a:t>
            </a:r>
          </a:p>
        </p:txBody>
      </p:sp>
      <p:grpSp>
        <p:nvGrpSpPr>
          <p:cNvPr name="Group 25" id="25"/>
          <p:cNvGrpSpPr/>
          <p:nvPr/>
        </p:nvGrpSpPr>
        <p:grpSpPr>
          <a:xfrm rot="0">
            <a:off x="1020127" y="1722120"/>
            <a:ext cx="128588" cy="515302"/>
            <a:chOff x="0" y="0"/>
            <a:chExt cx="171450" cy="687070"/>
          </a:xfrm>
        </p:grpSpPr>
        <p:sp>
          <p:nvSpPr>
            <p:cNvPr name="Freeform 26" id="26"/>
            <p:cNvSpPr/>
            <p:nvPr/>
          </p:nvSpPr>
          <p:spPr>
            <a:xfrm flipH="false" flipV="false" rot="0">
              <a:off x="0" y="0"/>
              <a:ext cx="171450" cy="687070"/>
            </a:xfrm>
            <a:custGeom>
              <a:avLst/>
              <a:gdLst/>
              <a:ahLst/>
              <a:cxnLst/>
              <a:rect r="r" b="b" t="t" l="l"/>
              <a:pathLst>
                <a:path h="687070" w="171450">
                  <a:moveTo>
                    <a:pt x="0" y="0"/>
                  </a:moveTo>
                  <a:lnTo>
                    <a:pt x="171450" y="0"/>
                  </a:lnTo>
                  <a:lnTo>
                    <a:pt x="171450" y="687070"/>
                  </a:lnTo>
                  <a:lnTo>
                    <a:pt x="0" y="687070"/>
                  </a:lnTo>
                  <a:close/>
                </a:path>
              </a:pathLst>
            </a:custGeom>
            <a:solidFill>
              <a:srgbClr val="00B0F0"/>
            </a:solidFill>
            <a:ln w="12700">
              <a:solidFill>
                <a:srgbClr val="000000"/>
              </a:solidFill>
            </a:ln>
          </p:spPr>
        </p:sp>
      </p:grpSp>
      <p:sp>
        <p:nvSpPr>
          <p:cNvPr name="TextBox 27" id="27"/>
          <p:cNvSpPr txBox="true"/>
          <p:nvPr/>
        </p:nvSpPr>
        <p:spPr>
          <a:xfrm rot="0">
            <a:off x="1239680" y="1666086"/>
            <a:ext cx="6355080" cy="489585"/>
          </a:xfrm>
          <a:prstGeom prst="rect">
            <a:avLst/>
          </a:prstGeom>
        </p:spPr>
        <p:txBody>
          <a:bodyPr anchor="t" rtlCol="false" tIns="0" lIns="0" bIns="0" rIns="0">
            <a:spAutoFit/>
          </a:bodyPr>
          <a:lstStyle/>
          <a:p>
            <a:pPr algn="l">
              <a:lnSpc>
                <a:spcPts val="4320"/>
              </a:lnSpc>
            </a:pPr>
            <a:r>
              <a:rPr lang="en-US" sz="3600">
                <a:solidFill>
                  <a:srgbClr val="00B0F0"/>
                </a:solidFill>
                <a:latin typeface="Arimo"/>
                <a:ea typeface="Arimo"/>
                <a:cs typeface="Arimo"/>
                <a:sym typeface="Arimo"/>
              </a:rPr>
              <a:t>Mở website</a:t>
            </a:r>
          </a:p>
        </p:txBody>
      </p:sp>
      <p:sp>
        <p:nvSpPr>
          <p:cNvPr name="TextBox 28" id="28"/>
          <p:cNvSpPr txBox="true"/>
          <p:nvPr/>
        </p:nvSpPr>
        <p:spPr>
          <a:xfrm rot="0">
            <a:off x="1190625" y="2279333"/>
            <a:ext cx="9976485" cy="1748790"/>
          </a:xfrm>
          <a:prstGeom prst="rect">
            <a:avLst/>
          </a:prstGeom>
        </p:spPr>
        <p:txBody>
          <a:bodyPr anchor="t" rtlCol="false" tIns="0" lIns="0" bIns="0" rIns="0">
            <a:spAutoFit/>
          </a:bodyPr>
          <a:lstStyle/>
          <a:p>
            <a:pPr algn="just">
              <a:lnSpc>
                <a:spcPts val="4680"/>
              </a:lnSpc>
            </a:pPr>
            <a:r>
              <a:rPr lang="en-US" sz="3000">
                <a:solidFill>
                  <a:srgbClr val="000000"/>
                </a:solidFill>
                <a:latin typeface="Arimo"/>
                <a:ea typeface="Arimo"/>
                <a:cs typeface="Arimo"/>
                <a:sym typeface="Arimo"/>
              </a:rPr>
              <a:t>Mở trang web nhóm đã tạo ở bài 26, kiểm tra xem trang có hoạt động bình thường không và xác định vị trí sẽ chèn biểu mẫu.</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743223" y="782376"/>
            <a:ext cx="5429250" cy="5869305"/>
            <a:chOff x="0" y="0"/>
            <a:chExt cx="7239000" cy="7825740"/>
          </a:xfrm>
        </p:grpSpPr>
        <p:sp>
          <p:nvSpPr>
            <p:cNvPr name="Freeform 3" id="3" descr="https://kimi-img.moonshot.cn/pub/slides/slides_tmpl/image/25-08-27-19:57:41-d2nf5d98bjvh7rlivsmg.png"/>
            <p:cNvSpPr/>
            <p:nvPr/>
          </p:nvSpPr>
          <p:spPr>
            <a:xfrm flipH="false" flipV="false" rot="0">
              <a:off x="0" y="0"/>
              <a:ext cx="7239000" cy="7825740"/>
            </a:xfrm>
            <a:custGeom>
              <a:avLst/>
              <a:gdLst/>
              <a:ahLst/>
              <a:cxnLst/>
              <a:rect r="r" b="b" t="t" l="l"/>
              <a:pathLst>
                <a:path h="7825740" w="7239000">
                  <a:moveTo>
                    <a:pt x="0" y="0"/>
                  </a:moveTo>
                  <a:lnTo>
                    <a:pt x="7239000" y="0"/>
                  </a:lnTo>
                  <a:lnTo>
                    <a:pt x="7239000" y="7825740"/>
                  </a:lnTo>
                  <a:lnTo>
                    <a:pt x="0" y="7825740"/>
                  </a:lnTo>
                  <a:lnTo>
                    <a:pt x="0" y="0"/>
                  </a:lnTo>
                  <a:close/>
                </a:path>
              </a:pathLst>
            </a:custGeom>
            <a:blipFill>
              <a:blip r:embed="rId3"/>
              <a:stretch>
                <a:fillRect l="-4" t="0" r="-4" b="0"/>
              </a:stretch>
            </a:blipFill>
          </p:spPr>
        </p:sp>
      </p:grpSp>
      <p:grpSp>
        <p:nvGrpSpPr>
          <p:cNvPr name="Group 4" id="4"/>
          <p:cNvGrpSpPr/>
          <p:nvPr/>
        </p:nvGrpSpPr>
        <p:grpSpPr>
          <a:xfrm rot="0">
            <a:off x="3027998" y="6638925"/>
            <a:ext cx="13240702" cy="2784157"/>
            <a:chOff x="0" y="0"/>
            <a:chExt cx="17654270" cy="3712210"/>
          </a:xfrm>
        </p:grpSpPr>
        <p:sp>
          <p:nvSpPr>
            <p:cNvPr name="Freeform 5" id="5"/>
            <p:cNvSpPr/>
            <p:nvPr/>
          </p:nvSpPr>
          <p:spPr>
            <a:xfrm flipH="false" flipV="false" rot="0">
              <a:off x="57150" y="57150"/>
              <a:ext cx="17539970" cy="3597910"/>
            </a:xfrm>
            <a:custGeom>
              <a:avLst/>
              <a:gdLst/>
              <a:ahLst/>
              <a:cxnLst/>
              <a:rect r="r" b="b" t="t" l="l"/>
              <a:pathLst>
                <a:path h="3597910" w="17539970">
                  <a:moveTo>
                    <a:pt x="0" y="1798955"/>
                  </a:moveTo>
                  <a:cubicBezTo>
                    <a:pt x="0" y="805434"/>
                    <a:pt x="825627" y="0"/>
                    <a:pt x="1844040" y="0"/>
                  </a:cubicBezTo>
                  <a:lnTo>
                    <a:pt x="15695930" y="0"/>
                  </a:lnTo>
                  <a:cubicBezTo>
                    <a:pt x="16714344" y="0"/>
                    <a:pt x="17539970" y="805434"/>
                    <a:pt x="17539970" y="1798955"/>
                  </a:cubicBezTo>
                  <a:cubicBezTo>
                    <a:pt x="17539970" y="2792476"/>
                    <a:pt x="16714343" y="3597910"/>
                    <a:pt x="15695930" y="3597910"/>
                  </a:cubicBezTo>
                  <a:lnTo>
                    <a:pt x="1844040" y="3597910"/>
                  </a:lnTo>
                  <a:cubicBezTo>
                    <a:pt x="825627" y="3597910"/>
                    <a:pt x="0" y="2792476"/>
                    <a:pt x="0" y="1798955"/>
                  </a:cubicBezTo>
                  <a:close/>
                </a:path>
              </a:pathLst>
            </a:custGeom>
            <a:solidFill>
              <a:srgbClr val="00B0F0"/>
            </a:solidFill>
            <a:ln w="12700">
              <a:solidFill>
                <a:srgbClr val="000000"/>
              </a:solidFill>
            </a:ln>
          </p:spPr>
        </p:sp>
      </p:grpSp>
      <p:grpSp>
        <p:nvGrpSpPr>
          <p:cNvPr name="Group 6" id="6"/>
          <p:cNvGrpSpPr/>
          <p:nvPr/>
        </p:nvGrpSpPr>
        <p:grpSpPr>
          <a:xfrm rot="0">
            <a:off x="2837498" y="6384608"/>
            <a:ext cx="13240702" cy="2784157"/>
            <a:chOff x="0" y="0"/>
            <a:chExt cx="17654270" cy="3712210"/>
          </a:xfrm>
        </p:grpSpPr>
        <p:sp>
          <p:nvSpPr>
            <p:cNvPr name="Freeform 7" id="7"/>
            <p:cNvSpPr/>
            <p:nvPr/>
          </p:nvSpPr>
          <p:spPr>
            <a:xfrm flipH="false" flipV="false" rot="0">
              <a:off x="57150" y="57150"/>
              <a:ext cx="17539970" cy="3597910"/>
            </a:xfrm>
            <a:custGeom>
              <a:avLst/>
              <a:gdLst/>
              <a:ahLst/>
              <a:cxnLst/>
              <a:rect r="r" b="b" t="t" l="l"/>
              <a:pathLst>
                <a:path h="3597910" w="17539970">
                  <a:moveTo>
                    <a:pt x="0" y="1798955"/>
                  </a:moveTo>
                  <a:cubicBezTo>
                    <a:pt x="0" y="805434"/>
                    <a:pt x="825627" y="0"/>
                    <a:pt x="1844040" y="0"/>
                  </a:cubicBezTo>
                  <a:lnTo>
                    <a:pt x="15695930" y="0"/>
                  </a:lnTo>
                  <a:cubicBezTo>
                    <a:pt x="16714344" y="0"/>
                    <a:pt x="17539970" y="805434"/>
                    <a:pt x="17539970" y="1798955"/>
                  </a:cubicBezTo>
                  <a:cubicBezTo>
                    <a:pt x="17539970" y="2792476"/>
                    <a:pt x="16714343" y="3597910"/>
                    <a:pt x="15695930" y="3597910"/>
                  </a:cubicBezTo>
                  <a:lnTo>
                    <a:pt x="1844040" y="3597910"/>
                  </a:lnTo>
                  <a:cubicBezTo>
                    <a:pt x="825627" y="3597910"/>
                    <a:pt x="0" y="2792476"/>
                    <a:pt x="0" y="1798955"/>
                  </a:cubicBezTo>
                  <a:close/>
                </a:path>
              </a:pathLst>
            </a:custGeom>
            <a:solidFill>
              <a:srgbClr val="FFFFFF"/>
            </a:solidFill>
            <a:ln w="12700">
              <a:solidFill>
                <a:srgbClr val="000000"/>
              </a:solidFill>
            </a:ln>
          </p:spPr>
        </p:sp>
        <p:sp>
          <p:nvSpPr>
            <p:cNvPr name="Freeform 8" id="8"/>
            <p:cNvSpPr/>
            <p:nvPr/>
          </p:nvSpPr>
          <p:spPr>
            <a:xfrm flipH="false" flipV="false" rot="0">
              <a:off x="0" y="0"/>
              <a:ext cx="17654270" cy="3712210"/>
            </a:xfrm>
            <a:custGeom>
              <a:avLst/>
              <a:gdLst/>
              <a:ahLst/>
              <a:cxnLst/>
              <a:rect r="r" b="b" t="t" l="l"/>
              <a:pathLst>
                <a:path h="3712210" w="17654270">
                  <a:moveTo>
                    <a:pt x="0" y="1856105"/>
                  </a:moveTo>
                  <a:cubicBezTo>
                    <a:pt x="0" y="829691"/>
                    <a:pt x="852551" y="0"/>
                    <a:pt x="1901190" y="0"/>
                  </a:cubicBezTo>
                  <a:lnTo>
                    <a:pt x="15753080" y="0"/>
                  </a:lnTo>
                  <a:lnTo>
                    <a:pt x="15753080" y="57150"/>
                  </a:lnTo>
                  <a:lnTo>
                    <a:pt x="15753080" y="0"/>
                  </a:lnTo>
                  <a:cubicBezTo>
                    <a:pt x="16801719" y="0"/>
                    <a:pt x="17654270" y="829691"/>
                    <a:pt x="17654270" y="1856105"/>
                  </a:cubicBezTo>
                  <a:lnTo>
                    <a:pt x="17597120" y="1856105"/>
                  </a:lnTo>
                  <a:lnTo>
                    <a:pt x="17654270" y="1856105"/>
                  </a:lnTo>
                  <a:lnTo>
                    <a:pt x="17597120" y="1856105"/>
                  </a:lnTo>
                  <a:lnTo>
                    <a:pt x="17654270" y="1856105"/>
                  </a:lnTo>
                  <a:cubicBezTo>
                    <a:pt x="17654270" y="2882519"/>
                    <a:pt x="16801719" y="3712210"/>
                    <a:pt x="15753080" y="3712210"/>
                  </a:cubicBezTo>
                  <a:lnTo>
                    <a:pt x="15753080" y="3655060"/>
                  </a:lnTo>
                  <a:lnTo>
                    <a:pt x="15753080" y="3712210"/>
                  </a:lnTo>
                  <a:lnTo>
                    <a:pt x="1901190" y="3712210"/>
                  </a:lnTo>
                  <a:lnTo>
                    <a:pt x="1901190" y="3655060"/>
                  </a:lnTo>
                  <a:lnTo>
                    <a:pt x="1901190" y="3712210"/>
                  </a:lnTo>
                  <a:cubicBezTo>
                    <a:pt x="852551" y="3712210"/>
                    <a:pt x="0" y="2882519"/>
                    <a:pt x="0" y="1856105"/>
                  </a:cubicBezTo>
                  <a:lnTo>
                    <a:pt x="57150" y="1856105"/>
                  </a:lnTo>
                  <a:lnTo>
                    <a:pt x="0" y="1856105"/>
                  </a:lnTo>
                  <a:moveTo>
                    <a:pt x="114300" y="1856105"/>
                  </a:moveTo>
                  <a:lnTo>
                    <a:pt x="57150" y="1856105"/>
                  </a:lnTo>
                  <a:lnTo>
                    <a:pt x="114300" y="1856105"/>
                  </a:lnTo>
                  <a:cubicBezTo>
                    <a:pt x="114300" y="2816733"/>
                    <a:pt x="913003" y="3597910"/>
                    <a:pt x="1901190" y="3597910"/>
                  </a:cubicBezTo>
                  <a:lnTo>
                    <a:pt x="15753080" y="3597910"/>
                  </a:lnTo>
                  <a:cubicBezTo>
                    <a:pt x="16741268" y="3597910"/>
                    <a:pt x="17539970" y="2816733"/>
                    <a:pt x="17539970" y="1856105"/>
                  </a:cubicBezTo>
                  <a:cubicBezTo>
                    <a:pt x="17539970" y="895477"/>
                    <a:pt x="16741267" y="114300"/>
                    <a:pt x="15753080" y="114300"/>
                  </a:cubicBezTo>
                  <a:lnTo>
                    <a:pt x="1901190" y="114300"/>
                  </a:lnTo>
                  <a:lnTo>
                    <a:pt x="1901190" y="57150"/>
                  </a:lnTo>
                  <a:lnTo>
                    <a:pt x="1901190" y="114300"/>
                  </a:lnTo>
                  <a:cubicBezTo>
                    <a:pt x="913003" y="114300"/>
                    <a:pt x="114300" y="895477"/>
                    <a:pt x="114300" y="1856105"/>
                  </a:cubicBezTo>
                  <a:close/>
                </a:path>
              </a:pathLst>
            </a:custGeom>
            <a:solidFill>
              <a:srgbClr val="000000"/>
            </a:solidFill>
            <a:ln w="12700">
              <a:solidFill>
                <a:srgbClr val="000000"/>
              </a:solidFill>
            </a:ln>
          </p:spPr>
        </p:sp>
      </p:grpSp>
      <p:grpSp>
        <p:nvGrpSpPr>
          <p:cNvPr name="Group 9" id="9"/>
          <p:cNvGrpSpPr/>
          <p:nvPr/>
        </p:nvGrpSpPr>
        <p:grpSpPr>
          <a:xfrm rot="0">
            <a:off x="2880360" y="6621573"/>
            <a:ext cx="12965430" cy="2631489"/>
            <a:chOff x="0" y="0"/>
            <a:chExt cx="17287240" cy="3508652"/>
          </a:xfrm>
        </p:grpSpPr>
        <p:sp>
          <p:nvSpPr>
            <p:cNvPr name="Freeform 10" id="10"/>
            <p:cNvSpPr/>
            <p:nvPr/>
          </p:nvSpPr>
          <p:spPr>
            <a:xfrm flipH="false" flipV="false" rot="0">
              <a:off x="0" y="0"/>
              <a:ext cx="17287239" cy="3508652"/>
            </a:xfrm>
            <a:custGeom>
              <a:avLst/>
              <a:gdLst/>
              <a:ahLst/>
              <a:cxnLst/>
              <a:rect r="r" b="b" t="t" l="l"/>
              <a:pathLst>
                <a:path h="3508652" w="17287239">
                  <a:moveTo>
                    <a:pt x="0" y="0"/>
                  </a:moveTo>
                  <a:lnTo>
                    <a:pt x="17287239" y="0"/>
                  </a:lnTo>
                  <a:lnTo>
                    <a:pt x="17287239" y="3508652"/>
                  </a:lnTo>
                  <a:lnTo>
                    <a:pt x="0" y="3508652"/>
                  </a:lnTo>
                  <a:close/>
                </a:path>
              </a:pathLst>
            </a:custGeom>
            <a:solidFill>
              <a:srgbClr val="000000">
                <a:alpha val="0"/>
              </a:srgbClr>
            </a:solidFill>
          </p:spPr>
        </p:sp>
        <p:sp>
          <p:nvSpPr>
            <p:cNvPr name="TextBox 11" id="11"/>
            <p:cNvSpPr txBox="true"/>
            <p:nvPr/>
          </p:nvSpPr>
          <p:spPr>
            <a:xfrm>
              <a:off x="0" y="-28575"/>
              <a:ext cx="17287240" cy="3537227"/>
            </a:xfrm>
            <a:prstGeom prst="rect">
              <a:avLst/>
            </a:prstGeom>
          </p:spPr>
          <p:txBody>
            <a:bodyPr anchor="ctr" rtlCol="false" tIns="0" lIns="0" bIns="0" rIns="0"/>
            <a:lstStyle/>
            <a:p>
              <a:pPr algn="ctr">
                <a:lnSpc>
                  <a:spcPts val="9720"/>
                </a:lnSpc>
              </a:pPr>
              <a:r>
                <a:rPr lang="en-US" sz="8100" b="true">
                  <a:solidFill>
                    <a:srgbClr val="000000"/>
                  </a:solidFill>
                  <a:latin typeface="Arimo Bold"/>
                  <a:ea typeface="Arimo Bold"/>
                  <a:cs typeface="Arimo Bold"/>
                  <a:sym typeface="Arimo Bold"/>
                </a:rPr>
                <a:t>XEM VÀ THỐNG KÊ </a:t>
              </a:r>
            </a:p>
            <a:p>
              <a:pPr algn="ctr">
                <a:lnSpc>
                  <a:spcPts val="9720"/>
                </a:lnSpc>
              </a:pPr>
              <a:r>
                <a:rPr lang="en-US" sz="8100" b="true">
                  <a:solidFill>
                    <a:srgbClr val="000000"/>
                  </a:solidFill>
                  <a:latin typeface="Arimo Bold"/>
                  <a:ea typeface="Arimo Bold"/>
                  <a:cs typeface="Arimo Bold"/>
                  <a:sym typeface="Arimo Bold"/>
                </a:rPr>
                <a:t>DỮ LIỆU PHẢN HỒI</a:t>
              </a:r>
            </a:p>
          </p:txBody>
        </p:sp>
      </p:grpSp>
      <p:grpSp>
        <p:nvGrpSpPr>
          <p:cNvPr name="Group 12" id="12"/>
          <p:cNvGrpSpPr/>
          <p:nvPr/>
        </p:nvGrpSpPr>
        <p:grpSpPr>
          <a:xfrm rot="0">
            <a:off x="394335" y="9069705"/>
            <a:ext cx="996969" cy="85725"/>
            <a:chOff x="0" y="0"/>
            <a:chExt cx="1329292" cy="114300"/>
          </a:xfrm>
        </p:grpSpPr>
        <p:sp>
          <p:nvSpPr>
            <p:cNvPr name="Freeform 13" id="13"/>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4" id="14"/>
          <p:cNvGrpSpPr/>
          <p:nvPr/>
        </p:nvGrpSpPr>
        <p:grpSpPr>
          <a:xfrm rot="0">
            <a:off x="394335" y="9420225"/>
            <a:ext cx="996969" cy="85725"/>
            <a:chOff x="0" y="0"/>
            <a:chExt cx="1329292" cy="114300"/>
          </a:xfrm>
        </p:grpSpPr>
        <p:sp>
          <p:nvSpPr>
            <p:cNvPr name="Freeform 15" id="15"/>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6" id="16"/>
          <p:cNvGrpSpPr/>
          <p:nvPr/>
        </p:nvGrpSpPr>
        <p:grpSpPr>
          <a:xfrm rot="0">
            <a:off x="394335" y="9770745"/>
            <a:ext cx="996969" cy="85725"/>
            <a:chOff x="0" y="0"/>
            <a:chExt cx="1329292" cy="114300"/>
          </a:xfrm>
        </p:grpSpPr>
        <p:sp>
          <p:nvSpPr>
            <p:cNvPr name="Freeform 17" id="17"/>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8" id="18"/>
          <p:cNvGrpSpPr/>
          <p:nvPr/>
        </p:nvGrpSpPr>
        <p:grpSpPr>
          <a:xfrm rot="0">
            <a:off x="422910" y="289560"/>
            <a:ext cx="534352" cy="534352"/>
            <a:chOff x="0" y="0"/>
            <a:chExt cx="712470" cy="712470"/>
          </a:xfrm>
        </p:grpSpPr>
        <p:sp>
          <p:nvSpPr>
            <p:cNvPr name="Freeform 19" id="19"/>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0" id="20"/>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1" id="21"/>
          <p:cNvGrpSpPr/>
          <p:nvPr/>
        </p:nvGrpSpPr>
        <p:grpSpPr>
          <a:xfrm rot="0">
            <a:off x="1863090" y="289560"/>
            <a:ext cx="534352" cy="534352"/>
            <a:chOff x="0" y="0"/>
            <a:chExt cx="712470" cy="712470"/>
          </a:xfrm>
        </p:grpSpPr>
        <p:sp>
          <p:nvSpPr>
            <p:cNvPr name="Freeform 22" id="22"/>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3" id="23"/>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4" id="24"/>
          <p:cNvGrpSpPr/>
          <p:nvPr/>
        </p:nvGrpSpPr>
        <p:grpSpPr>
          <a:xfrm rot="0">
            <a:off x="1143000" y="289560"/>
            <a:ext cx="534352" cy="534352"/>
            <a:chOff x="0" y="0"/>
            <a:chExt cx="712470" cy="712470"/>
          </a:xfrm>
        </p:grpSpPr>
        <p:sp>
          <p:nvSpPr>
            <p:cNvPr name="Freeform 25" id="25"/>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6" id="26"/>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27" id="27"/>
          <p:cNvGrpSpPr/>
          <p:nvPr/>
        </p:nvGrpSpPr>
        <p:grpSpPr>
          <a:xfrm rot="0">
            <a:off x="2583180" y="289560"/>
            <a:ext cx="534353" cy="534352"/>
            <a:chOff x="0" y="0"/>
            <a:chExt cx="712470" cy="712470"/>
          </a:xfrm>
        </p:grpSpPr>
        <p:sp>
          <p:nvSpPr>
            <p:cNvPr name="Freeform 28" id="28"/>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9" id="29"/>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17282160" y="274470"/>
            <a:ext cx="597218" cy="57150"/>
            <a:chOff x="0" y="0"/>
            <a:chExt cx="796290" cy="76200"/>
          </a:xfrm>
        </p:grpSpPr>
        <p:sp>
          <p:nvSpPr>
            <p:cNvPr name="Freeform 5" id="5"/>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6" id="6"/>
          <p:cNvGrpSpPr/>
          <p:nvPr/>
        </p:nvGrpSpPr>
        <p:grpSpPr>
          <a:xfrm rot="0">
            <a:off x="17282160" y="482115"/>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689760"/>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360045" y="232410"/>
            <a:ext cx="483870" cy="485775"/>
            <a:chOff x="0" y="0"/>
            <a:chExt cx="645160" cy="647700"/>
          </a:xfrm>
        </p:grpSpPr>
        <p:sp>
          <p:nvSpPr>
            <p:cNvPr name="Freeform 11" id="11"/>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2" id="12"/>
          <p:cNvGrpSpPr/>
          <p:nvPr/>
        </p:nvGrpSpPr>
        <p:grpSpPr>
          <a:xfrm rot="0">
            <a:off x="3231735" y="4906987"/>
            <a:ext cx="13040677" cy="3065309"/>
            <a:chOff x="0" y="0"/>
            <a:chExt cx="17387570" cy="4087078"/>
          </a:xfrm>
        </p:grpSpPr>
        <p:sp>
          <p:nvSpPr>
            <p:cNvPr name="Freeform 13" id="13"/>
            <p:cNvSpPr/>
            <p:nvPr/>
          </p:nvSpPr>
          <p:spPr>
            <a:xfrm flipH="false" flipV="false" rot="0">
              <a:off x="0" y="0"/>
              <a:ext cx="17387570" cy="4087114"/>
            </a:xfrm>
            <a:custGeom>
              <a:avLst/>
              <a:gdLst/>
              <a:ahLst/>
              <a:cxnLst/>
              <a:rect r="r" b="b" t="t" l="l"/>
              <a:pathLst>
                <a:path h="4087114" w="17387570">
                  <a:moveTo>
                    <a:pt x="76200" y="1231265"/>
                  </a:moveTo>
                  <a:lnTo>
                    <a:pt x="76200" y="4049014"/>
                  </a:lnTo>
                  <a:lnTo>
                    <a:pt x="38100" y="4049014"/>
                  </a:lnTo>
                  <a:lnTo>
                    <a:pt x="38100" y="4010914"/>
                  </a:lnTo>
                  <a:lnTo>
                    <a:pt x="17349470" y="4010914"/>
                  </a:lnTo>
                  <a:lnTo>
                    <a:pt x="17349470" y="4049014"/>
                  </a:lnTo>
                  <a:lnTo>
                    <a:pt x="17311370" y="4049014"/>
                  </a:lnTo>
                  <a:lnTo>
                    <a:pt x="17311370" y="38100"/>
                  </a:lnTo>
                  <a:lnTo>
                    <a:pt x="17349470" y="38100"/>
                  </a:lnTo>
                  <a:lnTo>
                    <a:pt x="17349470" y="76200"/>
                  </a:lnTo>
                  <a:lnTo>
                    <a:pt x="11505057" y="83693"/>
                  </a:lnTo>
                  <a:lnTo>
                    <a:pt x="11504930" y="7493"/>
                  </a:lnTo>
                  <a:lnTo>
                    <a:pt x="17349470" y="0"/>
                  </a:lnTo>
                  <a:cubicBezTo>
                    <a:pt x="17359630" y="0"/>
                    <a:pt x="17369282" y="3937"/>
                    <a:pt x="17376394" y="11176"/>
                  </a:cubicBezTo>
                  <a:cubicBezTo>
                    <a:pt x="17383506" y="18415"/>
                    <a:pt x="17387570" y="28067"/>
                    <a:pt x="17387570" y="38100"/>
                  </a:cubicBezTo>
                  <a:lnTo>
                    <a:pt x="17387570" y="4049014"/>
                  </a:lnTo>
                  <a:cubicBezTo>
                    <a:pt x="17387570" y="4070096"/>
                    <a:pt x="17370552" y="4087114"/>
                    <a:pt x="17349470" y="4087114"/>
                  </a:cubicBezTo>
                  <a:lnTo>
                    <a:pt x="38100" y="4087114"/>
                  </a:lnTo>
                  <a:cubicBezTo>
                    <a:pt x="17018" y="4087114"/>
                    <a:pt x="0" y="4070096"/>
                    <a:pt x="0" y="4049014"/>
                  </a:cubicBezTo>
                  <a:lnTo>
                    <a:pt x="0" y="1231265"/>
                  </a:lnTo>
                  <a:close/>
                </a:path>
              </a:pathLst>
            </a:custGeom>
            <a:solidFill>
              <a:srgbClr val="000000"/>
            </a:solidFill>
            <a:ln w="12700">
              <a:solidFill>
                <a:srgbClr val="000000"/>
              </a:solidFill>
            </a:ln>
          </p:spPr>
        </p:sp>
      </p:grpSp>
      <p:grpSp>
        <p:nvGrpSpPr>
          <p:cNvPr name="Group 14" id="14"/>
          <p:cNvGrpSpPr>
            <a:grpSpLocks noChangeAspect="true"/>
          </p:cNvGrpSpPr>
          <p:nvPr/>
        </p:nvGrpSpPr>
        <p:grpSpPr>
          <a:xfrm rot="0">
            <a:off x="13604557" y="1309688"/>
            <a:ext cx="2634615" cy="3038475"/>
            <a:chOff x="0" y="0"/>
            <a:chExt cx="3512820" cy="4051300"/>
          </a:xfrm>
        </p:grpSpPr>
        <p:sp>
          <p:nvSpPr>
            <p:cNvPr name="Freeform 15" id="15" descr="https://kimi-img.moonshot.cn/pub/slides/slides_tmpl/image/25-08-27-19:57:42-d2nf5dh8bjvh7rlivsp0.jpg"/>
            <p:cNvSpPr/>
            <p:nvPr/>
          </p:nvSpPr>
          <p:spPr>
            <a:xfrm flipH="false" flipV="false" rot="0">
              <a:off x="0" y="0"/>
              <a:ext cx="3512820" cy="4051300"/>
            </a:xfrm>
            <a:custGeom>
              <a:avLst/>
              <a:gdLst/>
              <a:ahLst/>
              <a:cxnLst/>
              <a:rect r="r" b="b" t="t" l="l"/>
              <a:pathLst>
                <a:path h="4051300" w="3512820">
                  <a:moveTo>
                    <a:pt x="0" y="0"/>
                  </a:moveTo>
                  <a:lnTo>
                    <a:pt x="3512820" y="0"/>
                  </a:lnTo>
                  <a:lnTo>
                    <a:pt x="3512820" y="4051300"/>
                  </a:lnTo>
                  <a:lnTo>
                    <a:pt x="0" y="4051300"/>
                  </a:lnTo>
                  <a:lnTo>
                    <a:pt x="0" y="0"/>
                  </a:lnTo>
                  <a:close/>
                </a:path>
              </a:pathLst>
            </a:custGeom>
            <a:blipFill>
              <a:blip r:embed="rId3"/>
              <a:stretch>
                <a:fillRect l="-5" t="0" r="-5" b="0"/>
              </a:stretch>
            </a:blipFill>
          </p:spPr>
        </p:sp>
      </p:grpSp>
      <p:sp>
        <p:nvSpPr>
          <p:cNvPr name="TextBox 16" id="16"/>
          <p:cNvSpPr txBox="true"/>
          <p:nvPr/>
        </p:nvSpPr>
        <p:spPr>
          <a:xfrm rot="0">
            <a:off x="2844069" y="4207852"/>
            <a:ext cx="1609725" cy="1327785"/>
          </a:xfrm>
          <a:prstGeom prst="rect">
            <a:avLst/>
          </a:prstGeom>
        </p:spPr>
        <p:txBody>
          <a:bodyPr anchor="t" rtlCol="false" tIns="0" lIns="0" bIns="0" rIns="0">
            <a:spAutoFit/>
          </a:bodyPr>
          <a:lstStyle/>
          <a:p>
            <a:pPr algn="l">
              <a:lnSpc>
                <a:spcPts val="10800"/>
              </a:lnSpc>
            </a:pPr>
            <a:r>
              <a:rPr lang="en-US" sz="9000" b="true">
                <a:solidFill>
                  <a:srgbClr val="000000"/>
                </a:solidFill>
                <a:latin typeface="Arimo Bold"/>
                <a:ea typeface="Arimo Bold"/>
                <a:cs typeface="Arimo Bold"/>
                <a:sym typeface="Arimo Bold"/>
              </a:rPr>
              <a:t>01</a:t>
            </a:r>
          </a:p>
        </p:txBody>
      </p:sp>
      <p:sp>
        <p:nvSpPr>
          <p:cNvPr name="TextBox 17" id="17"/>
          <p:cNvSpPr txBox="true"/>
          <p:nvPr/>
        </p:nvSpPr>
        <p:spPr>
          <a:xfrm rot="0">
            <a:off x="4275201" y="4633783"/>
            <a:ext cx="6355080" cy="489585"/>
          </a:xfrm>
          <a:prstGeom prst="rect">
            <a:avLst/>
          </a:prstGeom>
        </p:spPr>
        <p:txBody>
          <a:bodyPr anchor="t" rtlCol="false" tIns="0" lIns="0" bIns="0" rIns="0">
            <a:spAutoFit/>
          </a:bodyPr>
          <a:lstStyle/>
          <a:p>
            <a:pPr algn="l">
              <a:lnSpc>
                <a:spcPts val="4320"/>
              </a:lnSpc>
            </a:pPr>
            <a:r>
              <a:rPr lang="en-US" sz="3600">
                <a:solidFill>
                  <a:srgbClr val="00B0F0"/>
                </a:solidFill>
                <a:latin typeface="Arimo"/>
                <a:ea typeface="Arimo"/>
                <a:cs typeface="Arimo"/>
                <a:sym typeface="Arimo"/>
              </a:rPr>
              <a:t>Xem biểu đồ phản hồi</a:t>
            </a:r>
          </a:p>
        </p:txBody>
      </p:sp>
      <p:sp>
        <p:nvSpPr>
          <p:cNvPr name="TextBox 18" id="18"/>
          <p:cNvSpPr txBox="true"/>
          <p:nvPr/>
        </p:nvSpPr>
        <p:spPr>
          <a:xfrm rot="0">
            <a:off x="3960399" y="5200357"/>
            <a:ext cx="10548938" cy="2102358"/>
          </a:xfrm>
          <a:prstGeom prst="rect">
            <a:avLst/>
          </a:prstGeom>
        </p:spPr>
        <p:txBody>
          <a:bodyPr anchor="t" rtlCol="false" tIns="0" lIns="0" bIns="0" rIns="0">
            <a:spAutoFit/>
          </a:bodyPr>
          <a:lstStyle/>
          <a:p>
            <a:pPr algn="just">
              <a:lnSpc>
                <a:spcPts val="5616"/>
              </a:lnSpc>
            </a:pPr>
            <a:r>
              <a:rPr lang="en-US" sz="3600">
                <a:solidFill>
                  <a:srgbClr val="000000"/>
                </a:solidFill>
                <a:latin typeface="Arimo"/>
                <a:ea typeface="Arimo"/>
                <a:cs typeface="Arimo"/>
                <a:sym typeface="Arimo"/>
              </a:rPr>
              <a:t>Trong Google Forms, mở tab </a:t>
            </a:r>
            <a:r>
              <a:rPr lang="en-US" sz="3600" b="true">
                <a:solidFill>
                  <a:srgbClr val="000000"/>
                </a:solidFill>
                <a:latin typeface="Arimo Bold"/>
                <a:ea typeface="Arimo Bold"/>
                <a:cs typeface="Arimo Bold"/>
                <a:sym typeface="Arimo Bold"/>
              </a:rPr>
              <a:t>Câu trả lời</a:t>
            </a:r>
            <a:r>
              <a:rPr lang="en-US" sz="3600">
                <a:solidFill>
                  <a:srgbClr val="000000"/>
                </a:solidFill>
                <a:latin typeface="Arimo"/>
                <a:ea typeface="Arimo"/>
                <a:cs typeface="Arimo"/>
                <a:sym typeface="Arimo"/>
              </a:rPr>
              <a:t> để xem biểu đồ thống kê.</a:t>
            </a:r>
          </a:p>
          <a:p>
            <a:pPr algn="just">
              <a:lnSpc>
                <a:spcPts val="5616"/>
              </a:lnSpc>
            </a:pPr>
            <a:r>
              <a:rPr lang="en-US" sz="3600">
                <a:solidFill>
                  <a:srgbClr val="000000"/>
                </a:solidFill>
                <a:latin typeface="Arimo"/>
                <a:ea typeface="Arimo"/>
                <a:cs typeface="Arimo"/>
                <a:sym typeface="Arimo"/>
              </a:rPr>
              <a:t>Chọn </a:t>
            </a:r>
            <a:r>
              <a:rPr lang="en-US" sz="3600" b="true">
                <a:solidFill>
                  <a:srgbClr val="000000"/>
                </a:solidFill>
                <a:latin typeface="Arimo Bold"/>
                <a:ea typeface="Arimo Bold"/>
                <a:cs typeface="Arimo Bold"/>
                <a:sym typeface="Arimo Bold"/>
              </a:rPr>
              <a:t>Xem trong trang tính</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17282160" y="274470"/>
            <a:ext cx="597218" cy="57150"/>
            <a:chOff x="0" y="0"/>
            <a:chExt cx="796290" cy="76200"/>
          </a:xfrm>
        </p:grpSpPr>
        <p:sp>
          <p:nvSpPr>
            <p:cNvPr name="Freeform 5" id="5"/>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6" id="6"/>
          <p:cNvGrpSpPr/>
          <p:nvPr/>
        </p:nvGrpSpPr>
        <p:grpSpPr>
          <a:xfrm rot="0">
            <a:off x="17282160" y="482115"/>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689760"/>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360045" y="232410"/>
            <a:ext cx="483870" cy="485775"/>
            <a:chOff x="0" y="0"/>
            <a:chExt cx="645160" cy="647700"/>
          </a:xfrm>
        </p:grpSpPr>
        <p:sp>
          <p:nvSpPr>
            <p:cNvPr name="Freeform 11" id="11"/>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2" id="12"/>
          <p:cNvGrpSpPr>
            <a:grpSpLocks noChangeAspect="true"/>
          </p:cNvGrpSpPr>
          <p:nvPr/>
        </p:nvGrpSpPr>
        <p:grpSpPr>
          <a:xfrm rot="0">
            <a:off x="4207144" y="1211768"/>
            <a:ext cx="10720436" cy="8880922"/>
            <a:chOff x="0" y="0"/>
            <a:chExt cx="14293914" cy="11841230"/>
          </a:xfrm>
        </p:grpSpPr>
        <p:sp>
          <p:nvSpPr>
            <p:cNvPr name="Freeform 13" id="13" descr="A screenshot of a computer  AI-generated content may be incorrect."/>
            <p:cNvSpPr/>
            <p:nvPr/>
          </p:nvSpPr>
          <p:spPr>
            <a:xfrm flipH="false" flipV="false" rot="0">
              <a:off x="0" y="0"/>
              <a:ext cx="14293977" cy="11841226"/>
            </a:xfrm>
            <a:custGeom>
              <a:avLst/>
              <a:gdLst/>
              <a:ahLst/>
              <a:cxnLst/>
              <a:rect r="r" b="b" t="t" l="l"/>
              <a:pathLst>
                <a:path h="11841226" w="14293977">
                  <a:moveTo>
                    <a:pt x="0" y="0"/>
                  </a:moveTo>
                  <a:lnTo>
                    <a:pt x="14293977" y="0"/>
                  </a:lnTo>
                  <a:lnTo>
                    <a:pt x="14293977" y="11841226"/>
                  </a:lnTo>
                  <a:lnTo>
                    <a:pt x="0" y="11841226"/>
                  </a:lnTo>
                  <a:lnTo>
                    <a:pt x="0" y="0"/>
                  </a:lnTo>
                  <a:close/>
                </a:path>
              </a:pathLst>
            </a:custGeom>
            <a:blipFill>
              <a:blip r:embed="rId3"/>
              <a:stretch>
                <a:fillRect l="-2" t="0" r="-2" b="0"/>
              </a:stretch>
            </a:blipFill>
          </p:spPr>
        </p:sp>
      </p:gr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17282160" y="274470"/>
            <a:ext cx="597218" cy="57150"/>
            <a:chOff x="0" y="0"/>
            <a:chExt cx="796290" cy="76200"/>
          </a:xfrm>
        </p:grpSpPr>
        <p:sp>
          <p:nvSpPr>
            <p:cNvPr name="Freeform 5" id="5"/>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6" id="6"/>
          <p:cNvGrpSpPr/>
          <p:nvPr/>
        </p:nvGrpSpPr>
        <p:grpSpPr>
          <a:xfrm rot="0">
            <a:off x="17282160" y="482115"/>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689760"/>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360045" y="232410"/>
            <a:ext cx="483870" cy="485775"/>
            <a:chOff x="0" y="0"/>
            <a:chExt cx="645160" cy="647700"/>
          </a:xfrm>
        </p:grpSpPr>
        <p:sp>
          <p:nvSpPr>
            <p:cNvPr name="Freeform 11" id="11"/>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2" id="12"/>
          <p:cNvGrpSpPr>
            <a:grpSpLocks noChangeAspect="true"/>
          </p:cNvGrpSpPr>
          <p:nvPr/>
        </p:nvGrpSpPr>
        <p:grpSpPr>
          <a:xfrm rot="0">
            <a:off x="1627346" y="3362325"/>
            <a:ext cx="15683389" cy="3322821"/>
            <a:chOff x="0" y="0"/>
            <a:chExt cx="20911186" cy="4430428"/>
          </a:xfrm>
        </p:grpSpPr>
        <p:sp>
          <p:nvSpPr>
            <p:cNvPr name="Freeform 13" id="13" descr="A screenshot of a computer  AI-generated content may be incorrect."/>
            <p:cNvSpPr/>
            <p:nvPr/>
          </p:nvSpPr>
          <p:spPr>
            <a:xfrm flipH="false" flipV="false" rot="0">
              <a:off x="0" y="0"/>
              <a:ext cx="20911186" cy="4430395"/>
            </a:xfrm>
            <a:custGeom>
              <a:avLst/>
              <a:gdLst/>
              <a:ahLst/>
              <a:cxnLst/>
              <a:rect r="r" b="b" t="t" l="l"/>
              <a:pathLst>
                <a:path h="4430395" w="20911186">
                  <a:moveTo>
                    <a:pt x="0" y="0"/>
                  </a:moveTo>
                  <a:lnTo>
                    <a:pt x="20911186" y="0"/>
                  </a:lnTo>
                  <a:lnTo>
                    <a:pt x="20911186" y="4430395"/>
                  </a:lnTo>
                  <a:lnTo>
                    <a:pt x="0" y="4430395"/>
                  </a:lnTo>
                  <a:lnTo>
                    <a:pt x="0" y="0"/>
                  </a:lnTo>
                  <a:close/>
                </a:path>
              </a:pathLst>
            </a:custGeom>
            <a:blipFill>
              <a:blip r:embed="rId3"/>
              <a:stretch>
                <a:fillRect l="0" t="-7" r="0" b="-8"/>
              </a:stretch>
            </a:blipFill>
          </p:spPr>
        </p:sp>
      </p:gr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37997" y="1711642"/>
            <a:ext cx="5429250" cy="5869305"/>
            <a:chOff x="0" y="0"/>
            <a:chExt cx="7239000" cy="7825740"/>
          </a:xfrm>
        </p:grpSpPr>
        <p:sp>
          <p:nvSpPr>
            <p:cNvPr name="Freeform 3" id="3" descr="https://kimi-img.moonshot.cn/pub/slides/slides_tmpl/image/25-08-27-19:57:41-d2nf5d98bjvh7rlivsmg.png"/>
            <p:cNvSpPr/>
            <p:nvPr/>
          </p:nvSpPr>
          <p:spPr>
            <a:xfrm flipH="false" flipV="false" rot="0">
              <a:off x="0" y="0"/>
              <a:ext cx="7239000" cy="7825740"/>
            </a:xfrm>
            <a:custGeom>
              <a:avLst/>
              <a:gdLst/>
              <a:ahLst/>
              <a:cxnLst/>
              <a:rect r="r" b="b" t="t" l="l"/>
              <a:pathLst>
                <a:path h="7825740" w="7239000">
                  <a:moveTo>
                    <a:pt x="0" y="0"/>
                  </a:moveTo>
                  <a:lnTo>
                    <a:pt x="7239000" y="0"/>
                  </a:lnTo>
                  <a:lnTo>
                    <a:pt x="7239000" y="7825740"/>
                  </a:lnTo>
                  <a:lnTo>
                    <a:pt x="0" y="7825740"/>
                  </a:lnTo>
                  <a:lnTo>
                    <a:pt x="0" y="0"/>
                  </a:lnTo>
                  <a:close/>
                </a:path>
              </a:pathLst>
            </a:custGeom>
            <a:blipFill>
              <a:blip r:embed="rId3"/>
              <a:stretch>
                <a:fillRect l="-4" t="0" r="-4" b="0"/>
              </a:stretch>
            </a:blipFill>
          </p:spPr>
        </p:sp>
      </p:grpSp>
      <p:grpSp>
        <p:nvGrpSpPr>
          <p:cNvPr name="Group 4" id="4"/>
          <p:cNvGrpSpPr/>
          <p:nvPr/>
        </p:nvGrpSpPr>
        <p:grpSpPr>
          <a:xfrm rot="0">
            <a:off x="3027998" y="7538085"/>
            <a:ext cx="13050202" cy="1884997"/>
            <a:chOff x="0" y="0"/>
            <a:chExt cx="17400270" cy="2513330"/>
          </a:xfrm>
        </p:grpSpPr>
        <p:sp>
          <p:nvSpPr>
            <p:cNvPr name="Freeform 5" id="5"/>
            <p:cNvSpPr/>
            <p:nvPr/>
          </p:nvSpPr>
          <p:spPr>
            <a:xfrm flipH="false" flipV="false" rot="0">
              <a:off x="57150" y="57150"/>
              <a:ext cx="17285971" cy="2399030"/>
            </a:xfrm>
            <a:custGeom>
              <a:avLst/>
              <a:gdLst/>
              <a:ahLst/>
              <a:cxnLst/>
              <a:rect r="r" b="b" t="t" l="l"/>
              <a:pathLst>
                <a:path h="2399030" w="17285971">
                  <a:moveTo>
                    <a:pt x="0" y="1199515"/>
                  </a:moveTo>
                  <a:cubicBezTo>
                    <a:pt x="0" y="537083"/>
                    <a:pt x="558927" y="0"/>
                    <a:pt x="1248410" y="0"/>
                  </a:cubicBezTo>
                  <a:lnTo>
                    <a:pt x="16037561" y="0"/>
                  </a:lnTo>
                  <a:cubicBezTo>
                    <a:pt x="16727044" y="0"/>
                    <a:pt x="17285971" y="537083"/>
                    <a:pt x="17285971" y="1199515"/>
                  </a:cubicBezTo>
                  <a:cubicBezTo>
                    <a:pt x="17285971" y="1861947"/>
                    <a:pt x="16727044" y="2399030"/>
                    <a:pt x="16037561" y="2399030"/>
                  </a:cubicBezTo>
                  <a:lnTo>
                    <a:pt x="1248410" y="2399030"/>
                  </a:lnTo>
                  <a:cubicBezTo>
                    <a:pt x="558927" y="2399030"/>
                    <a:pt x="0" y="1861947"/>
                    <a:pt x="0" y="1199515"/>
                  </a:cubicBezTo>
                  <a:close/>
                </a:path>
              </a:pathLst>
            </a:custGeom>
            <a:solidFill>
              <a:srgbClr val="00B0F0"/>
            </a:solidFill>
            <a:ln w="12700">
              <a:solidFill>
                <a:srgbClr val="000000"/>
              </a:solidFill>
            </a:ln>
          </p:spPr>
        </p:sp>
      </p:grpSp>
      <p:grpSp>
        <p:nvGrpSpPr>
          <p:cNvPr name="Group 6" id="6"/>
          <p:cNvGrpSpPr/>
          <p:nvPr/>
        </p:nvGrpSpPr>
        <p:grpSpPr>
          <a:xfrm rot="0">
            <a:off x="2837498" y="7283768"/>
            <a:ext cx="13050202" cy="1884997"/>
            <a:chOff x="0" y="0"/>
            <a:chExt cx="17400270" cy="2513330"/>
          </a:xfrm>
        </p:grpSpPr>
        <p:sp>
          <p:nvSpPr>
            <p:cNvPr name="Freeform 7" id="7"/>
            <p:cNvSpPr/>
            <p:nvPr/>
          </p:nvSpPr>
          <p:spPr>
            <a:xfrm flipH="false" flipV="false" rot="0">
              <a:off x="57150" y="57150"/>
              <a:ext cx="17285971" cy="2399030"/>
            </a:xfrm>
            <a:custGeom>
              <a:avLst/>
              <a:gdLst/>
              <a:ahLst/>
              <a:cxnLst/>
              <a:rect r="r" b="b" t="t" l="l"/>
              <a:pathLst>
                <a:path h="2399030" w="17285971">
                  <a:moveTo>
                    <a:pt x="0" y="1199515"/>
                  </a:moveTo>
                  <a:cubicBezTo>
                    <a:pt x="0" y="537083"/>
                    <a:pt x="558927" y="0"/>
                    <a:pt x="1248410" y="0"/>
                  </a:cubicBezTo>
                  <a:lnTo>
                    <a:pt x="16037561" y="0"/>
                  </a:lnTo>
                  <a:cubicBezTo>
                    <a:pt x="16727044" y="0"/>
                    <a:pt x="17285971" y="537083"/>
                    <a:pt x="17285971" y="1199515"/>
                  </a:cubicBezTo>
                  <a:cubicBezTo>
                    <a:pt x="17285971" y="1861947"/>
                    <a:pt x="16727044" y="2399030"/>
                    <a:pt x="16037561" y="2399030"/>
                  </a:cubicBezTo>
                  <a:lnTo>
                    <a:pt x="1248410" y="2399030"/>
                  </a:lnTo>
                  <a:cubicBezTo>
                    <a:pt x="558927" y="2399030"/>
                    <a:pt x="0" y="1861947"/>
                    <a:pt x="0" y="1199515"/>
                  </a:cubicBezTo>
                  <a:close/>
                </a:path>
              </a:pathLst>
            </a:custGeom>
            <a:solidFill>
              <a:srgbClr val="FFFFFF"/>
            </a:solidFill>
            <a:ln w="12700">
              <a:solidFill>
                <a:srgbClr val="000000"/>
              </a:solidFill>
            </a:ln>
          </p:spPr>
        </p:sp>
        <p:sp>
          <p:nvSpPr>
            <p:cNvPr name="Freeform 8" id="8"/>
            <p:cNvSpPr/>
            <p:nvPr/>
          </p:nvSpPr>
          <p:spPr>
            <a:xfrm flipH="false" flipV="false" rot="0">
              <a:off x="0" y="0"/>
              <a:ext cx="17400271" cy="2513330"/>
            </a:xfrm>
            <a:custGeom>
              <a:avLst/>
              <a:gdLst/>
              <a:ahLst/>
              <a:cxnLst/>
              <a:rect r="r" b="b" t="t" l="l"/>
              <a:pathLst>
                <a:path h="2513330" w="17400271">
                  <a:moveTo>
                    <a:pt x="0" y="1256665"/>
                  </a:moveTo>
                  <a:cubicBezTo>
                    <a:pt x="0" y="560451"/>
                    <a:pt x="586740" y="0"/>
                    <a:pt x="1305560" y="0"/>
                  </a:cubicBezTo>
                  <a:lnTo>
                    <a:pt x="16094711" y="0"/>
                  </a:lnTo>
                  <a:lnTo>
                    <a:pt x="16094711" y="57150"/>
                  </a:lnTo>
                  <a:lnTo>
                    <a:pt x="16094711" y="0"/>
                  </a:lnTo>
                  <a:cubicBezTo>
                    <a:pt x="16813530" y="0"/>
                    <a:pt x="17400271" y="560451"/>
                    <a:pt x="17400271" y="1256665"/>
                  </a:cubicBezTo>
                  <a:lnTo>
                    <a:pt x="17343121" y="1256665"/>
                  </a:lnTo>
                  <a:lnTo>
                    <a:pt x="17400271" y="1256665"/>
                  </a:lnTo>
                  <a:lnTo>
                    <a:pt x="17343121" y="1256665"/>
                  </a:lnTo>
                  <a:lnTo>
                    <a:pt x="17400271" y="1256665"/>
                  </a:lnTo>
                  <a:cubicBezTo>
                    <a:pt x="17400271" y="1952879"/>
                    <a:pt x="16813530" y="2513330"/>
                    <a:pt x="16094711" y="2513330"/>
                  </a:cubicBezTo>
                  <a:lnTo>
                    <a:pt x="16094711" y="2456180"/>
                  </a:lnTo>
                  <a:lnTo>
                    <a:pt x="16094711" y="2513330"/>
                  </a:lnTo>
                  <a:lnTo>
                    <a:pt x="1305560" y="2513330"/>
                  </a:lnTo>
                  <a:lnTo>
                    <a:pt x="1305560" y="2456180"/>
                  </a:lnTo>
                  <a:lnTo>
                    <a:pt x="1305560" y="2513330"/>
                  </a:lnTo>
                  <a:cubicBezTo>
                    <a:pt x="586740" y="2513330"/>
                    <a:pt x="0" y="1952879"/>
                    <a:pt x="0" y="1256665"/>
                  </a:cubicBezTo>
                  <a:lnTo>
                    <a:pt x="57150" y="1256665"/>
                  </a:lnTo>
                  <a:lnTo>
                    <a:pt x="0" y="1256665"/>
                  </a:lnTo>
                  <a:moveTo>
                    <a:pt x="114300" y="1256665"/>
                  </a:moveTo>
                  <a:lnTo>
                    <a:pt x="57150" y="1256665"/>
                  </a:lnTo>
                  <a:lnTo>
                    <a:pt x="114300" y="1256665"/>
                  </a:lnTo>
                  <a:cubicBezTo>
                    <a:pt x="114300" y="1885442"/>
                    <a:pt x="645414" y="2399030"/>
                    <a:pt x="1305560" y="2399030"/>
                  </a:cubicBezTo>
                  <a:lnTo>
                    <a:pt x="16094711" y="2399030"/>
                  </a:lnTo>
                  <a:cubicBezTo>
                    <a:pt x="16754856" y="2399030"/>
                    <a:pt x="17285971" y="1885442"/>
                    <a:pt x="17285971" y="1256665"/>
                  </a:cubicBezTo>
                  <a:cubicBezTo>
                    <a:pt x="17285971" y="627888"/>
                    <a:pt x="16754856" y="114300"/>
                    <a:pt x="16094711" y="114300"/>
                  </a:cubicBezTo>
                  <a:lnTo>
                    <a:pt x="1305560" y="114300"/>
                  </a:lnTo>
                  <a:lnTo>
                    <a:pt x="1305560" y="57150"/>
                  </a:lnTo>
                  <a:lnTo>
                    <a:pt x="1305560" y="114300"/>
                  </a:lnTo>
                  <a:cubicBezTo>
                    <a:pt x="645414" y="114300"/>
                    <a:pt x="114300" y="627888"/>
                    <a:pt x="114300" y="1256665"/>
                  </a:cubicBezTo>
                  <a:close/>
                </a:path>
              </a:pathLst>
            </a:custGeom>
            <a:solidFill>
              <a:srgbClr val="000000"/>
            </a:solidFill>
            <a:ln w="12700">
              <a:solidFill>
                <a:srgbClr val="000000"/>
              </a:solidFill>
            </a:ln>
          </p:spPr>
        </p:sp>
      </p:grpSp>
      <p:grpSp>
        <p:nvGrpSpPr>
          <p:cNvPr name="Group 9" id="9"/>
          <p:cNvGrpSpPr/>
          <p:nvPr/>
        </p:nvGrpSpPr>
        <p:grpSpPr>
          <a:xfrm rot="0">
            <a:off x="2880360" y="7568565"/>
            <a:ext cx="12965430" cy="1628049"/>
            <a:chOff x="0" y="0"/>
            <a:chExt cx="17287240" cy="2170733"/>
          </a:xfrm>
        </p:grpSpPr>
        <p:sp>
          <p:nvSpPr>
            <p:cNvPr name="Freeform 10" id="10"/>
            <p:cNvSpPr/>
            <p:nvPr/>
          </p:nvSpPr>
          <p:spPr>
            <a:xfrm flipH="false" flipV="false" rot="0">
              <a:off x="0" y="0"/>
              <a:ext cx="17287239" cy="2170733"/>
            </a:xfrm>
            <a:custGeom>
              <a:avLst/>
              <a:gdLst/>
              <a:ahLst/>
              <a:cxnLst/>
              <a:rect r="r" b="b" t="t" l="l"/>
              <a:pathLst>
                <a:path h="2170733" w="17287239">
                  <a:moveTo>
                    <a:pt x="0" y="0"/>
                  </a:moveTo>
                  <a:lnTo>
                    <a:pt x="17287239" y="0"/>
                  </a:lnTo>
                  <a:lnTo>
                    <a:pt x="17287239" y="2170733"/>
                  </a:lnTo>
                  <a:lnTo>
                    <a:pt x="0" y="2170733"/>
                  </a:lnTo>
                  <a:close/>
                </a:path>
              </a:pathLst>
            </a:custGeom>
            <a:solidFill>
              <a:srgbClr val="000000">
                <a:alpha val="0"/>
              </a:srgbClr>
            </a:solidFill>
          </p:spPr>
        </p:sp>
        <p:sp>
          <p:nvSpPr>
            <p:cNvPr name="TextBox 11" id="11"/>
            <p:cNvSpPr txBox="true"/>
            <p:nvPr/>
          </p:nvSpPr>
          <p:spPr>
            <a:xfrm>
              <a:off x="0" y="-171450"/>
              <a:ext cx="17287240" cy="2342183"/>
            </a:xfrm>
            <a:prstGeom prst="rect">
              <a:avLst/>
            </a:prstGeom>
          </p:spPr>
          <p:txBody>
            <a:bodyPr anchor="ctr" rtlCol="false" tIns="0" lIns="0" bIns="0" rIns="0"/>
            <a:lstStyle/>
            <a:p>
              <a:pPr algn="ctr">
                <a:lnSpc>
                  <a:spcPts val="9720"/>
                </a:lnSpc>
              </a:pPr>
              <a:r>
                <a:rPr lang="en-US" sz="8100" b="true">
                  <a:solidFill>
                    <a:srgbClr val="000000"/>
                  </a:solidFill>
                  <a:latin typeface="Calibri (MS) Bold"/>
                  <a:ea typeface="Calibri (MS) Bold"/>
                  <a:cs typeface="Calibri (MS) Bold"/>
                  <a:sym typeface="Calibri (MS) Bold"/>
                </a:rPr>
                <a:t>LU</a:t>
              </a:r>
              <a:r>
                <a:rPr lang="en-US" sz="8100" b="true">
                  <a:solidFill>
                    <a:srgbClr val="000000"/>
                  </a:solidFill>
                  <a:latin typeface="Calibri (MS) Bold"/>
                  <a:ea typeface="Calibri (MS) Bold"/>
                  <a:cs typeface="Calibri (MS) Bold"/>
                  <a:sym typeface="Calibri (MS) Bold"/>
                </a:rPr>
                <a:t>YỆN TẬP</a:t>
              </a:r>
            </a:p>
          </p:txBody>
        </p:sp>
      </p:grpSp>
      <p:grpSp>
        <p:nvGrpSpPr>
          <p:cNvPr name="Group 12" id="12"/>
          <p:cNvGrpSpPr/>
          <p:nvPr/>
        </p:nvGrpSpPr>
        <p:grpSpPr>
          <a:xfrm rot="0">
            <a:off x="394335" y="9069705"/>
            <a:ext cx="996969" cy="85725"/>
            <a:chOff x="0" y="0"/>
            <a:chExt cx="1329292" cy="114300"/>
          </a:xfrm>
        </p:grpSpPr>
        <p:sp>
          <p:nvSpPr>
            <p:cNvPr name="Freeform 13" id="13"/>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4" id="14"/>
          <p:cNvGrpSpPr/>
          <p:nvPr/>
        </p:nvGrpSpPr>
        <p:grpSpPr>
          <a:xfrm rot="0">
            <a:off x="394335" y="9420225"/>
            <a:ext cx="996969" cy="85725"/>
            <a:chOff x="0" y="0"/>
            <a:chExt cx="1329292" cy="114300"/>
          </a:xfrm>
        </p:grpSpPr>
        <p:sp>
          <p:nvSpPr>
            <p:cNvPr name="Freeform 15" id="15"/>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6" id="16"/>
          <p:cNvGrpSpPr/>
          <p:nvPr/>
        </p:nvGrpSpPr>
        <p:grpSpPr>
          <a:xfrm rot="0">
            <a:off x="394335" y="9770745"/>
            <a:ext cx="996969" cy="85725"/>
            <a:chOff x="0" y="0"/>
            <a:chExt cx="1329292" cy="114300"/>
          </a:xfrm>
        </p:grpSpPr>
        <p:sp>
          <p:nvSpPr>
            <p:cNvPr name="Freeform 17" id="17"/>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8" id="18"/>
          <p:cNvGrpSpPr/>
          <p:nvPr/>
        </p:nvGrpSpPr>
        <p:grpSpPr>
          <a:xfrm rot="0">
            <a:off x="422910" y="289560"/>
            <a:ext cx="534352" cy="534352"/>
            <a:chOff x="0" y="0"/>
            <a:chExt cx="712470" cy="712470"/>
          </a:xfrm>
        </p:grpSpPr>
        <p:sp>
          <p:nvSpPr>
            <p:cNvPr name="Freeform 19" id="19"/>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0" id="20"/>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1" id="21"/>
          <p:cNvGrpSpPr/>
          <p:nvPr/>
        </p:nvGrpSpPr>
        <p:grpSpPr>
          <a:xfrm rot="0">
            <a:off x="1863090" y="289560"/>
            <a:ext cx="534352" cy="534352"/>
            <a:chOff x="0" y="0"/>
            <a:chExt cx="712470" cy="712470"/>
          </a:xfrm>
        </p:grpSpPr>
        <p:sp>
          <p:nvSpPr>
            <p:cNvPr name="Freeform 22" id="22"/>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3" id="23"/>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4" id="24"/>
          <p:cNvGrpSpPr/>
          <p:nvPr/>
        </p:nvGrpSpPr>
        <p:grpSpPr>
          <a:xfrm rot="0">
            <a:off x="1143000" y="289560"/>
            <a:ext cx="534352" cy="534352"/>
            <a:chOff x="0" y="0"/>
            <a:chExt cx="712470" cy="712470"/>
          </a:xfrm>
        </p:grpSpPr>
        <p:sp>
          <p:nvSpPr>
            <p:cNvPr name="Freeform 25" id="25"/>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6" id="26"/>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27" id="27"/>
          <p:cNvGrpSpPr/>
          <p:nvPr/>
        </p:nvGrpSpPr>
        <p:grpSpPr>
          <a:xfrm rot="0">
            <a:off x="2583180" y="289560"/>
            <a:ext cx="534353" cy="534352"/>
            <a:chOff x="0" y="0"/>
            <a:chExt cx="712470" cy="712470"/>
          </a:xfrm>
        </p:grpSpPr>
        <p:sp>
          <p:nvSpPr>
            <p:cNvPr name="Freeform 28" id="28"/>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9" id="29"/>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spTree>
  </p:cSld>
  <p:clrMapOvr>
    <a:masterClrMapping/>
  </p:clrMapOvr>
  <p:transition spd="fast">
    <p:fade/>
  </p:transition>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3330892" y="194310"/>
            <a:ext cx="11596688" cy="671512"/>
            <a:chOff x="0" y="0"/>
            <a:chExt cx="15462250" cy="895350"/>
          </a:xfrm>
        </p:grpSpPr>
        <p:sp>
          <p:nvSpPr>
            <p:cNvPr name="Freeform 5" id="5"/>
            <p:cNvSpPr/>
            <p:nvPr/>
          </p:nvSpPr>
          <p:spPr>
            <a:xfrm flipH="false" flipV="false" rot="0">
              <a:off x="0" y="0"/>
              <a:ext cx="15462250" cy="895350"/>
            </a:xfrm>
            <a:custGeom>
              <a:avLst/>
              <a:gdLst/>
              <a:ahLst/>
              <a:cxnLst/>
              <a:rect r="r" b="b" t="t" l="l"/>
              <a:pathLst>
                <a:path h="895350" w="15462250">
                  <a:moveTo>
                    <a:pt x="0" y="447675"/>
                  </a:moveTo>
                  <a:cubicBezTo>
                    <a:pt x="0" y="200406"/>
                    <a:pt x="200406" y="0"/>
                    <a:pt x="447675" y="0"/>
                  </a:cubicBezTo>
                  <a:lnTo>
                    <a:pt x="15014575" y="0"/>
                  </a:lnTo>
                  <a:cubicBezTo>
                    <a:pt x="15261844" y="0"/>
                    <a:pt x="15462250" y="200406"/>
                    <a:pt x="15462250" y="447675"/>
                  </a:cubicBezTo>
                  <a:cubicBezTo>
                    <a:pt x="15462250" y="694944"/>
                    <a:pt x="15261844" y="895350"/>
                    <a:pt x="15014575" y="895350"/>
                  </a:cubicBezTo>
                  <a:lnTo>
                    <a:pt x="447675" y="895350"/>
                  </a:lnTo>
                  <a:cubicBezTo>
                    <a:pt x="200406" y="895350"/>
                    <a:pt x="0" y="694944"/>
                    <a:pt x="0" y="447675"/>
                  </a:cubicBezTo>
                  <a:close/>
                </a:path>
              </a:pathLst>
            </a:custGeom>
            <a:solidFill>
              <a:srgbClr val="FFFFFF"/>
            </a:solidFill>
            <a:ln w="12700">
              <a:solidFill>
                <a:srgbClr val="000000"/>
              </a:solidFill>
            </a:ln>
          </p:spPr>
        </p:sp>
      </p:grpSp>
      <p:grpSp>
        <p:nvGrpSpPr>
          <p:cNvPr name="Group 6" id="6"/>
          <p:cNvGrpSpPr/>
          <p:nvPr/>
        </p:nvGrpSpPr>
        <p:grpSpPr>
          <a:xfrm rot="0">
            <a:off x="17282160" y="274470"/>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482115"/>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17282160" y="689760"/>
            <a:ext cx="597218" cy="57150"/>
            <a:chOff x="0" y="0"/>
            <a:chExt cx="796290" cy="76200"/>
          </a:xfrm>
        </p:grpSpPr>
        <p:sp>
          <p:nvSpPr>
            <p:cNvPr name="Freeform 11" id="11"/>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2" id="12"/>
          <p:cNvGrpSpPr/>
          <p:nvPr/>
        </p:nvGrpSpPr>
        <p:grpSpPr>
          <a:xfrm rot="0">
            <a:off x="360045" y="232410"/>
            <a:ext cx="483870" cy="485775"/>
            <a:chOff x="0" y="0"/>
            <a:chExt cx="645160" cy="647700"/>
          </a:xfrm>
        </p:grpSpPr>
        <p:sp>
          <p:nvSpPr>
            <p:cNvPr name="Freeform 13" id="13"/>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4" id="14"/>
          <p:cNvGrpSpPr/>
          <p:nvPr/>
        </p:nvGrpSpPr>
        <p:grpSpPr>
          <a:xfrm rot="0">
            <a:off x="3384233" y="213360"/>
            <a:ext cx="11249978" cy="552450"/>
            <a:chOff x="0" y="0"/>
            <a:chExt cx="14999970" cy="736600"/>
          </a:xfrm>
        </p:grpSpPr>
        <p:sp>
          <p:nvSpPr>
            <p:cNvPr name="Freeform 15" id="15"/>
            <p:cNvSpPr/>
            <p:nvPr/>
          </p:nvSpPr>
          <p:spPr>
            <a:xfrm flipH="false" flipV="false" rot="0">
              <a:off x="0" y="0"/>
              <a:ext cx="14999970" cy="736600"/>
            </a:xfrm>
            <a:custGeom>
              <a:avLst/>
              <a:gdLst/>
              <a:ahLst/>
              <a:cxnLst/>
              <a:rect r="r" b="b" t="t" l="l"/>
              <a:pathLst>
                <a:path h="736600" w="14999970">
                  <a:moveTo>
                    <a:pt x="0" y="0"/>
                  </a:moveTo>
                  <a:lnTo>
                    <a:pt x="14999970" y="0"/>
                  </a:lnTo>
                  <a:lnTo>
                    <a:pt x="14999970" y="736600"/>
                  </a:lnTo>
                  <a:lnTo>
                    <a:pt x="0" y="736600"/>
                  </a:lnTo>
                  <a:close/>
                </a:path>
              </a:pathLst>
            </a:custGeom>
            <a:solidFill>
              <a:srgbClr val="000000">
                <a:alpha val="0"/>
              </a:srgbClr>
            </a:solidFill>
          </p:spPr>
        </p:sp>
        <p:sp>
          <p:nvSpPr>
            <p:cNvPr name="TextBox 16" id="16"/>
            <p:cNvSpPr txBox="true"/>
            <p:nvPr/>
          </p:nvSpPr>
          <p:spPr>
            <a:xfrm>
              <a:off x="0" y="-28575"/>
              <a:ext cx="14999970" cy="765175"/>
            </a:xfrm>
            <a:prstGeom prst="rect">
              <a:avLst/>
            </a:prstGeom>
          </p:spPr>
          <p:txBody>
            <a:bodyPr anchor="ctr" rtlCol="false" tIns="0" lIns="0" bIns="0" rIns="0"/>
            <a:lstStyle/>
            <a:p>
              <a:pPr algn="ctr">
                <a:lnSpc>
                  <a:spcPts val="4320"/>
                </a:lnSpc>
              </a:pPr>
              <a:r>
                <a:rPr lang="en-US" sz="3600">
                  <a:solidFill>
                    <a:srgbClr val="000000"/>
                  </a:solidFill>
                  <a:latin typeface="Arimo"/>
                  <a:ea typeface="Arimo"/>
                  <a:cs typeface="Arimo"/>
                  <a:sym typeface="Arimo"/>
                </a:rPr>
                <a:t>Phân tích biểu mẫu mẫu</a:t>
              </a:r>
            </a:p>
          </p:txBody>
        </p:sp>
      </p:grpSp>
      <p:grpSp>
        <p:nvGrpSpPr>
          <p:cNvPr name="Group 17" id="17"/>
          <p:cNvGrpSpPr/>
          <p:nvPr/>
        </p:nvGrpSpPr>
        <p:grpSpPr>
          <a:xfrm rot="0">
            <a:off x="3102464" y="3606430"/>
            <a:ext cx="12054777" cy="4541346"/>
            <a:chOff x="0" y="0"/>
            <a:chExt cx="10946130" cy="4123690"/>
          </a:xfrm>
        </p:grpSpPr>
        <p:sp>
          <p:nvSpPr>
            <p:cNvPr name="Freeform 18" id="18"/>
            <p:cNvSpPr/>
            <p:nvPr/>
          </p:nvSpPr>
          <p:spPr>
            <a:xfrm flipH="false" flipV="false" rot="0">
              <a:off x="28575" y="28575"/>
              <a:ext cx="10888980" cy="4066540"/>
            </a:xfrm>
            <a:custGeom>
              <a:avLst/>
              <a:gdLst/>
              <a:ahLst/>
              <a:cxnLst/>
              <a:rect r="r" b="b" t="t" l="l"/>
              <a:pathLst>
                <a:path h="4066540" w="10888980">
                  <a:moveTo>
                    <a:pt x="0" y="677799"/>
                  </a:moveTo>
                  <a:cubicBezTo>
                    <a:pt x="0" y="303530"/>
                    <a:pt x="306070" y="0"/>
                    <a:pt x="683768" y="0"/>
                  </a:cubicBezTo>
                  <a:lnTo>
                    <a:pt x="10205212" y="0"/>
                  </a:lnTo>
                  <a:cubicBezTo>
                    <a:pt x="10582783" y="0"/>
                    <a:pt x="10888980" y="303403"/>
                    <a:pt x="10888980" y="677799"/>
                  </a:cubicBezTo>
                  <a:lnTo>
                    <a:pt x="10888980" y="3388741"/>
                  </a:lnTo>
                  <a:cubicBezTo>
                    <a:pt x="10888980" y="3763010"/>
                    <a:pt x="10582910" y="4066540"/>
                    <a:pt x="10205212" y="4066540"/>
                  </a:cubicBezTo>
                  <a:lnTo>
                    <a:pt x="683768" y="4066540"/>
                  </a:lnTo>
                  <a:cubicBezTo>
                    <a:pt x="306197" y="4066540"/>
                    <a:pt x="0" y="3763137"/>
                    <a:pt x="0" y="3388741"/>
                  </a:cubicBezTo>
                  <a:close/>
                </a:path>
              </a:pathLst>
            </a:custGeom>
            <a:solidFill>
              <a:srgbClr val="00B0F0"/>
            </a:solidFill>
            <a:ln w="12700">
              <a:solidFill>
                <a:srgbClr val="000000"/>
              </a:solidFill>
            </a:ln>
          </p:spPr>
        </p:sp>
      </p:grpSp>
      <p:grpSp>
        <p:nvGrpSpPr>
          <p:cNvPr name="Group 19" id="19"/>
          <p:cNvGrpSpPr/>
          <p:nvPr/>
        </p:nvGrpSpPr>
        <p:grpSpPr>
          <a:xfrm rot="0">
            <a:off x="2861201" y="3254675"/>
            <a:ext cx="11800227" cy="4520367"/>
            <a:chOff x="0" y="0"/>
            <a:chExt cx="10714990" cy="4104640"/>
          </a:xfrm>
        </p:grpSpPr>
        <p:sp>
          <p:nvSpPr>
            <p:cNvPr name="Freeform 20" id="20"/>
            <p:cNvSpPr/>
            <p:nvPr/>
          </p:nvSpPr>
          <p:spPr>
            <a:xfrm flipH="false" flipV="false" rot="0">
              <a:off x="19050" y="19050"/>
              <a:ext cx="10676889" cy="4066540"/>
            </a:xfrm>
            <a:custGeom>
              <a:avLst/>
              <a:gdLst/>
              <a:ahLst/>
              <a:cxnLst/>
              <a:rect r="r" b="b" t="t" l="l"/>
              <a:pathLst>
                <a:path h="4066540" w="10676889">
                  <a:moveTo>
                    <a:pt x="0" y="609854"/>
                  </a:moveTo>
                  <a:cubicBezTo>
                    <a:pt x="0" y="273050"/>
                    <a:pt x="274574" y="0"/>
                    <a:pt x="613283" y="0"/>
                  </a:cubicBezTo>
                  <a:lnTo>
                    <a:pt x="10063607" y="0"/>
                  </a:lnTo>
                  <a:cubicBezTo>
                    <a:pt x="10402315" y="0"/>
                    <a:pt x="10676889" y="273050"/>
                    <a:pt x="10676889" y="609854"/>
                  </a:cubicBezTo>
                  <a:lnTo>
                    <a:pt x="10676889" y="3456686"/>
                  </a:lnTo>
                  <a:cubicBezTo>
                    <a:pt x="10676889" y="3793490"/>
                    <a:pt x="10402315" y="4066540"/>
                    <a:pt x="10063607" y="4066540"/>
                  </a:cubicBezTo>
                  <a:lnTo>
                    <a:pt x="613283" y="4066540"/>
                  </a:lnTo>
                  <a:cubicBezTo>
                    <a:pt x="274574" y="4066540"/>
                    <a:pt x="0" y="3793490"/>
                    <a:pt x="0" y="3456686"/>
                  </a:cubicBezTo>
                  <a:close/>
                </a:path>
              </a:pathLst>
            </a:custGeom>
            <a:solidFill>
              <a:srgbClr val="FFFFFF"/>
            </a:solidFill>
            <a:ln w="12700">
              <a:solidFill>
                <a:srgbClr val="000000"/>
              </a:solidFill>
            </a:ln>
          </p:spPr>
        </p:sp>
        <p:sp>
          <p:nvSpPr>
            <p:cNvPr name="Freeform 21" id="21"/>
            <p:cNvSpPr/>
            <p:nvPr/>
          </p:nvSpPr>
          <p:spPr>
            <a:xfrm flipH="false" flipV="false" rot="0">
              <a:off x="0" y="0"/>
              <a:ext cx="10714990" cy="4104640"/>
            </a:xfrm>
            <a:custGeom>
              <a:avLst/>
              <a:gdLst/>
              <a:ahLst/>
              <a:cxnLst/>
              <a:rect r="r" b="b" t="t" l="l"/>
              <a:pathLst>
                <a:path h="4104640" w="10714990">
                  <a:moveTo>
                    <a:pt x="0" y="628904"/>
                  </a:moveTo>
                  <a:cubicBezTo>
                    <a:pt x="0" y="281432"/>
                    <a:pt x="283210" y="0"/>
                    <a:pt x="632333" y="0"/>
                  </a:cubicBezTo>
                  <a:lnTo>
                    <a:pt x="10082657" y="0"/>
                  </a:lnTo>
                  <a:lnTo>
                    <a:pt x="10082657" y="19050"/>
                  </a:lnTo>
                  <a:lnTo>
                    <a:pt x="10082657" y="0"/>
                  </a:lnTo>
                  <a:cubicBezTo>
                    <a:pt x="10431780" y="0"/>
                    <a:pt x="10714990" y="281432"/>
                    <a:pt x="10714990" y="628904"/>
                  </a:cubicBezTo>
                  <a:lnTo>
                    <a:pt x="10695940" y="628904"/>
                  </a:lnTo>
                  <a:lnTo>
                    <a:pt x="10714990" y="628904"/>
                  </a:lnTo>
                  <a:lnTo>
                    <a:pt x="10714990" y="3475736"/>
                  </a:lnTo>
                  <a:lnTo>
                    <a:pt x="10695940" y="3475736"/>
                  </a:lnTo>
                  <a:lnTo>
                    <a:pt x="10714990" y="3475736"/>
                  </a:lnTo>
                  <a:cubicBezTo>
                    <a:pt x="10714990" y="3823208"/>
                    <a:pt x="10431780" y="4104640"/>
                    <a:pt x="10082657" y="4104640"/>
                  </a:cubicBezTo>
                  <a:lnTo>
                    <a:pt x="10082657" y="4085590"/>
                  </a:lnTo>
                  <a:lnTo>
                    <a:pt x="10082657" y="4104640"/>
                  </a:lnTo>
                  <a:lnTo>
                    <a:pt x="632333" y="4104640"/>
                  </a:lnTo>
                  <a:lnTo>
                    <a:pt x="632333" y="4085590"/>
                  </a:lnTo>
                  <a:lnTo>
                    <a:pt x="632333" y="4104640"/>
                  </a:lnTo>
                  <a:cubicBezTo>
                    <a:pt x="283210" y="4104640"/>
                    <a:pt x="0" y="3823208"/>
                    <a:pt x="0" y="3475736"/>
                  </a:cubicBezTo>
                  <a:lnTo>
                    <a:pt x="0" y="628904"/>
                  </a:lnTo>
                  <a:lnTo>
                    <a:pt x="19050" y="628904"/>
                  </a:lnTo>
                  <a:lnTo>
                    <a:pt x="0" y="628904"/>
                  </a:lnTo>
                  <a:moveTo>
                    <a:pt x="38100" y="628904"/>
                  </a:moveTo>
                  <a:lnTo>
                    <a:pt x="38100" y="3475736"/>
                  </a:lnTo>
                  <a:lnTo>
                    <a:pt x="19050" y="3475736"/>
                  </a:lnTo>
                  <a:lnTo>
                    <a:pt x="38100" y="3475736"/>
                  </a:lnTo>
                  <a:cubicBezTo>
                    <a:pt x="38100" y="3801872"/>
                    <a:pt x="304038" y="4066540"/>
                    <a:pt x="632333" y="4066540"/>
                  </a:cubicBezTo>
                  <a:lnTo>
                    <a:pt x="10082657" y="4066540"/>
                  </a:lnTo>
                  <a:cubicBezTo>
                    <a:pt x="10410951" y="4066540"/>
                    <a:pt x="10676889" y="3801999"/>
                    <a:pt x="10676889" y="3475736"/>
                  </a:cubicBezTo>
                  <a:lnTo>
                    <a:pt x="10676889" y="628904"/>
                  </a:lnTo>
                  <a:cubicBezTo>
                    <a:pt x="10676890" y="302641"/>
                    <a:pt x="10410952" y="38100"/>
                    <a:pt x="10082657" y="38100"/>
                  </a:cubicBezTo>
                  <a:lnTo>
                    <a:pt x="632333" y="38100"/>
                  </a:lnTo>
                  <a:lnTo>
                    <a:pt x="632333" y="19050"/>
                  </a:lnTo>
                  <a:lnTo>
                    <a:pt x="632333" y="38100"/>
                  </a:lnTo>
                  <a:cubicBezTo>
                    <a:pt x="304038" y="38100"/>
                    <a:pt x="38100" y="302641"/>
                    <a:pt x="38100" y="628904"/>
                  </a:cubicBezTo>
                  <a:close/>
                </a:path>
              </a:pathLst>
            </a:custGeom>
            <a:solidFill>
              <a:srgbClr val="000000"/>
            </a:solidFill>
            <a:ln w="12700">
              <a:solidFill>
                <a:srgbClr val="000000"/>
              </a:solidFill>
            </a:ln>
          </p:spPr>
        </p:sp>
      </p:grpSp>
      <p:sp>
        <p:nvSpPr>
          <p:cNvPr name="TextBox 22" id="22"/>
          <p:cNvSpPr txBox="true"/>
          <p:nvPr/>
        </p:nvSpPr>
        <p:spPr>
          <a:xfrm rot="0">
            <a:off x="3126495" y="3690668"/>
            <a:ext cx="7798751" cy="553064"/>
          </a:xfrm>
          <a:prstGeom prst="rect">
            <a:avLst/>
          </a:prstGeom>
        </p:spPr>
        <p:txBody>
          <a:bodyPr anchor="t" rtlCol="false" tIns="0" lIns="0" bIns="0" rIns="0">
            <a:spAutoFit/>
          </a:bodyPr>
          <a:lstStyle/>
          <a:p>
            <a:pPr algn="l">
              <a:lnSpc>
                <a:spcPts val="5286"/>
              </a:lnSpc>
            </a:pPr>
            <a:r>
              <a:rPr lang="en-US" sz="4405">
                <a:solidFill>
                  <a:srgbClr val="000000"/>
                </a:solidFill>
                <a:latin typeface="Arimo"/>
                <a:ea typeface="Arimo"/>
                <a:cs typeface="Arimo"/>
                <a:sym typeface="Arimo"/>
              </a:rPr>
              <a:t>Quan sát biểu mẫu</a:t>
            </a:r>
          </a:p>
        </p:txBody>
      </p:sp>
      <p:sp>
        <p:nvSpPr>
          <p:cNvPr name="TextBox 23" id="23"/>
          <p:cNvSpPr txBox="true"/>
          <p:nvPr/>
        </p:nvSpPr>
        <p:spPr>
          <a:xfrm rot="0">
            <a:off x="3126940" y="4662613"/>
            <a:ext cx="11099514" cy="1211568"/>
          </a:xfrm>
          <a:prstGeom prst="rect">
            <a:avLst/>
          </a:prstGeom>
        </p:spPr>
        <p:txBody>
          <a:bodyPr anchor="t" rtlCol="false" tIns="0" lIns="0" bIns="0" rIns="0">
            <a:spAutoFit/>
          </a:bodyPr>
          <a:lstStyle/>
          <a:p>
            <a:pPr algn="just">
              <a:lnSpc>
                <a:spcPts val="4810"/>
              </a:lnSpc>
            </a:pPr>
            <a:r>
              <a:rPr lang="en-US" sz="3083">
                <a:solidFill>
                  <a:srgbClr val="000000"/>
                </a:solidFill>
                <a:latin typeface="Arimo"/>
                <a:ea typeface="Arimo"/>
                <a:cs typeface="Arimo"/>
                <a:sym typeface="Arimo"/>
              </a:rPr>
              <a:t>Quan sát biểu mẫu trong SGK Hình 27.2 và ghi ra: Ưu điểm, Hạn chế và Đề xuất cải tiến.</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37997" y="1711642"/>
            <a:ext cx="5429250" cy="5869305"/>
            <a:chOff x="0" y="0"/>
            <a:chExt cx="7239000" cy="7825740"/>
          </a:xfrm>
        </p:grpSpPr>
        <p:sp>
          <p:nvSpPr>
            <p:cNvPr name="Freeform 3" id="3" descr="https://kimi-img.moonshot.cn/pub/slides/slides_tmpl/image/25-08-27-19:57:41-d2nf5d98bjvh7rlivsmg.png"/>
            <p:cNvSpPr/>
            <p:nvPr/>
          </p:nvSpPr>
          <p:spPr>
            <a:xfrm flipH="false" flipV="false" rot="0">
              <a:off x="0" y="0"/>
              <a:ext cx="7239000" cy="7825740"/>
            </a:xfrm>
            <a:custGeom>
              <a:avLst/>
              <a:gdLst/>
              <a:ahLst/>
              <a:cxnLst/>
              <a:rect r="r" b="b" t="t" l="l"/>
              <a:pathLst>
                <a:path h="7825740" w="7239000">
                  <a:moveTo>
                    <a:pt x="0" y="0"/>
                  </a:moveTo>
                  <a:lnTo>
                    <a:pt x="7239000" y="0"/>
                  </a:lnTo>
                  <a:lnTo>
                    <a:pt x="7239000" y="7825740"/>
                  </a:lnTo>
                  <a:lnTo>
                    <a:pt x="0" y="7825740"/>
                  </a:lnTo>
                  <a:lnTo>
                    <a:pt x="0" y="0"/>
                  </a:lnTo>
                  <a:close/>
                </a:path>
              </a:pathLst>
            </a:custGeom>
            <a:blipFill>
              <a:blip r:embed="rId3"/>
              <a:stretch>
                <a:fillRect l="-4" t="0" r="-4" b="0"/>
              </a:stretch>
            </a:blipFill>
          </p:spPr>
        </p:sp>
      </p:grpSp>
      <p:grpSp>
        <p:nvGrpSpPr>
          <p:cNvPr name="Group 4" id="4"/>
          <p:cNvGrpSpPr/>
          <p:nvPr/>
        </p:nvGrpSpPr>
        <p:grpSpPr>
          <a:xfrm rot="0">
            <a:off x="3027998" y="7538085"/>
            <a:ext cx="13050202" cy="1884997"/>
            <a:chOff x="0" y="0"/>
            <a:chExt cx="17400270" cy="2513330"/>
          </a:xfrm>
        </p:grpSpPr>
        <p:sp>
          <p:nvSpPr>
            <p:cNvPr name="Freeform 5" id="5"/>
            <p:cNvSpPr/>
            <p:nvPr/>
          </p:nvSpPr>
          <p:spPr>
            <a:xfrm flipH="false" flipV="false" rot="0">
              <a:off x="57150" y="57150"/>
              <a:ext cx="17285971" cy="2399030"/>
            </a:xfrm>
            <a:custGeom>
              <a:avLst/>
              <a:gdLst/>
              <a:ahLst/>
              <a:cxnLst/>
              <a:rect r="r" b="b" t="t" l="l"/>
              <a:pathLst>
                <a:path h="2399030" w="17285971">
                  <a:moveTo>
                    <a:pt x="0" y="1199515"/>
                  </a:moveTo>
                  <a:cubicBezTo>
                    <a:pt x="0" y="537083"/>
                    <a:pt x="558927" y="0"/>
                    <a:pt x="1248410" y="0"/>
                  </a:cubicBezTo>
                  <a:lnTo>
                    <a:pt x="16037561" y="0"/>
                  </a:lnTo>
                  <a:cubicBezTo>
                    <a:pt x="16727044" y="0"/>
                    <a:pt x="17285971" y="537083"/>
                    <a:pt x="17285971" y="1199515"/>
                  </a:cubicBezTo>
                  <a:cubicBezTo>
                    <a:pt x="17285971" y="1861947"/>
                    <a:pt x="16727044" y="2399030"/>
                    <a:pt x="16037561" y="2399030"/>
                  </a:cubicBezTo>
                  <a:lnTo>
                    <a:pt x="1248410" y="2399030"/>
                  </a:lnTo>
                  <a:cubicBezTo>
                    <a:pt x="558927" y="2399030"/>
                    <a:pt x="0" y="1861947"/>
                    <a:pt x="0" y="1199515"/>
                  </a:cubicBezTo>
                  <a:close/>
                </a:path>
              </a:pathLst>
            </a:custGeom>
            <a:solidFill>
              <a:srgbClr val="00B0F0"/>
            </a:solidFill>
            <a:ln w="12700">
              <a:solidFill>
                <a:srgbClr val="000000"/>
              </a:solidFill>
            </a:ln>
          </p:spPr>
        </p:sp>
      </p:grpSp>
      <p:grpSp>
        <p:nvGrpSpPr>
          <p:cNvPr name="Group 6" id="6"/>
          <p:cNvGrpSpPr/>
          <p:nvPr/>
        </p:nvGrpSpPr>
        <p:grpSpPr>
          <a:xfrm rot="0">
            <a:off x="2837498" y="7283768"/>
            <a:ext cx="13050202" cy="1884997"/>
            <a:chOff x="0" y="0"/>
            <a:chExt cx="17400270" cy="2513330"/>
          </a:xfrm>
        </p:grpSpPr>
        <p:sp>
          <p:nvSpPr>
            <p:cNvPr name="Freeform 7" id="7"/>
            <p:cNvSpPr/>
            <p:nvPr/>
          </p:nvSpPr>
          <p:spPr>
            <a:xfrm flipH="false" flipV="false" rot="0">
              <a:off x="57150" y="57150"/>
              <a:ext cx="17285971" cy="2399030"/>
            </a:xfrm>
            <a:custGeom>
              <a:avLst/>
              <a:gdLst/>
              <a:ahLst/>
              <a:cxnLst/>
              <a:rect r="r" b="b" t="t" l="l"/>
              <a:pathLst>
                <a:path h="2399030" w="17285971">
                  <a:moveTo>
                    <a:pt x="0" y="1199515"/>
                  </a:moveTo>
                  <a:cubicBezTo>
                    <a:pt x="0" y="537083"/>
                    <a:pt x="558927" y="0"/>
                    <a:pt x="1248410" y="0"/>
                  </a:cubicBezTo>
                  <a:lnTo>
                    <a:pt x="16037561" y="0"/>
                  </a:lnTo>
                  <a:cubicBezTo>
                    <a:pt x="16727044" y="0"/>
                    <a:pt x="17285971" y="537083"/>
                    <a:pt x="17285971" y="1199515"/>
                  </a:cubicBezTo>
                  <a:cubicBezTo>
                    <a:pt x="17285971" y="1861947"/>
                    <a:pt x="16727044" y="2399030"/>
                    <a:pt x="16037561" y="2399030"/>
                  </a:cubicBezTo>
                  <a:lnTo>
                    <a:pt x="1248410" y="2399030"/>
                  </a:lnTo>
                  <a:cubicBezTo>
                    <a:pt x="558927" y="2399030"/>
                    <a:pt x="0" y="1861947"/>
                    <a:pt x="0" y="1199515"/>
                  </a:cubicBezTo>
                  <a:close/>
                </a:path>
              </a:pathLst>
            </a:custGeom>
            <a:solidFill>
              <a:srgbClr val="FFFFFF"/>
            </a:solidFill>
            <a:ln w="12700">
              <a:solidFill>
                <a:srgbClr val="000000"/>
              </a:solidFill>
            </a:ln>
          </p:spPr>
        </p:sp>
        <p:sp>
          <p:nvSpPr>
            <p:cNvPr name="Freeform 8" id="8"/>
            <p:cNvSpPr/>
            <p:nvPr/>
          </p:nvSpPr>
          <p:spPr>
            <a:xfrm flipH="false" flipV="false" rot="0">
              <a:off x="0" y="0"/>
              <a:ext cx="17400271" cy="2513330"/>
            </a:xfrm>
            <a:custGeom>
              <a:avLst/>
              <a:gdLst/>
              <a:ahLst/>
              <a:cxnLst/>
              <a:rect r="r" b="b" t="t" l="l"/>
              <a:pathLst>
                <a:path h="2513330" w="17400271">
                  <a:moveTo>
                    <a:pt x="0" y="1256665"/>
                  </a:moveTo>
                  <a:cubicBezTo>
                    <a:pt x="0" y="560451"/>
                    <a:pt x="586740" y="0"/>
                    <a:pt x="1305560" y="0"/>
                  </a:cubicBezTo>
                  <a:lnTo>
                    <a:pt x="16094711" y="0"/>
                  </a:lnTo>
                  <a:lnTo>
                    <a:pt x="16094711" y="57150"/>
                  </a:lnTo>
                  <a:lnTo>
                    <a:pt x="16094711" y="0"/>
                  </a:lnTo>
                  <a:cubicBezTo>
                    <a:pt x="16813530" y="0"/>
                    <a:pt x="17400271" y="560451"/>
                    <a:pt x="17400271" y="1256665"/>
                  </a:cubicBezTo>
                  <a:lnTo>
                    <a:pt x="17343121" y="1256665"/>
                  </a:lnTo>
                  <a:lnTo>
                    <a:pt x="17400271" y="1256665"/>
                  </a:lnTo>
                  <a:lnTo>
                    <a:pt x="17343121" y="1256665"/>
                  </a:lnTo>
                  <a:lnTo>
                    <a:pt x="17400271" y="1256665"/>
                  </a:lnTo>
                  <a:cubicBezTo>
                    <a:pt x="17400271" y="1952879"/>
                    <a:pt x="16813530" y="2513330"/>
                    <a:pt x="16094711" y="2513330"/>
                  </a:cubicBezTo>
                  <a:lnTo>
                    <a:pt x="16094711" y="2456180"/>
                  </a:lnTo>
                  <a:lnTo>
                    <a:pt x="16094711" y="2513330"/>
                  </a:lnTo>
                  <a:lnTo>
                    <a:pt x="1305560" y="2513330"/>
                  </a:lnTo>
                  <a:lnTo>
                    <a:pt x="1305560" y="2456180"/>
                  </a:lnTo>
                  <a:lnTo>
                    <a:pt x="1305560" y="2513330"/>
                  </a:lnTo>
                  <a:cubicBezTo>
                    <a:pt x="586740" y="2513330"/>
                    <a:pt x="0" y="1952879"/>
                    <a:pt x="0" y="1256665"/>
                  </a:cubicBezTo>
                  <a:lnTo>
                    <a:pt x="57150" y="1256665"/>
                  </a:lnTo>
                  <a:lnTo>
                    <a:pt x="0" y="1256665"/>
                  </a:lnTo>
                  <a:moveTo>
                    <a:pt x="114300" y="1256665"/>
                  </a:moveTo>
                  <a:lnTo>
                    <a:pt x="57150" y="1256665"/>
                  </a:lnTo>
                  <a:lnTo>
                    <a:pt x="114300" y="1256665"/>
                  </a:lnTo>
                  <a:cubicBezTo>
                    <a:pt x="114300" y="1885442"/>
                    <a:pt x="645414" y="2399030"/>
                    <a:pt x="1305560" y="2399030"/>
                  </a:cubicBezTo>
                  <a:lnTo>
                    <a:pt x="16094711" y="2399030"/>
                  </a:lnTo>
                  <a:cubicBezTo>
                    <a:pt x="16754856" y="2399030"/>
                    <a:pt x="17285971" y="1885442"/>
                    <a:pt x="17285971" y="1256665"/>
                  </a:cubicBezTo>
                  <a:cubicBezTo>
                    <a:pt x="17285971" y="627888"/>
                    <a:pt x="16754856" y="114300"/>
                    <a:pt x="16094711" y="114300"/>
                  </a:cubicBezTo>
                  <a:lnTo>
                    <a:pt x="1305560" y="114300"/>
                  </a:lnTo>
                  <a:lnTo>
                    <a:pt x="1305560" y="57150"/>
                  </a:lnTo>
                  <a:lnTo>
                    <a:pt x="1305560" y="114300"/>
                  </a:lnTo>
                  <a:cubicBezTo>
                    <a:pt x="645414" y="114300"/>
                    <a:pt x="114300" y="627888"/>
                    <a:pt x="114300" y="1256665"/>
                  </a:cubicBezTo>
                  <a:close/>
                </a:path>
              </a:pathLst>
            </a:custGeom>
            <a:solidFill>
              <a:srgbClr val="000000"/>
            </a:solidFill>
            <a:ln w="12700">
              <a:solidFill>
                <a:srgbClr val="000000"/>
              </a:solidFill>
            </a:ln>
          </p:spPr>
        </p:sp>
      </p:grpSp>
      <p:grpSp>
        <p:nvGrpSpPr>
          <p:cNvPr name="Group 9" id="9"/>
          <p:cNvGrpSpPr/>
          <p:nvPr/>
        </p:nvGrpSpPr>
        <p:grpSpPr>
          <a:xfrm rot="0">
            <a:off x="2880360" y="7568565"/>
            <a:ext cx="12965430" cy="1650150"/>
            <a:chOff x="0" y="0"/>
            <a:chExt cx="17287240" cy="2200201"/>
          </a:xfrm>
        </p:grpSpPr>
        <p:sp>
          <p:nvSpPr>
            <p:cNvPr name="Freeform 10" id="10"/>
            <p:cNvSpPr/>
            <p:nvPr/>
          </p:nvSpPr>
          <p:spPr>
            <a:xfrm flipH="false" flipV="false" rot="0">
              <a:off x="0" y="0"/>
              <a:ext cx="17287239" cy="2200201"/>
            </a:xfrm>
            <a:custGeom>
              <a:avLst/>
              <a:gdLst/>
              <a:ahLst/>
              <a:cxnLst/>
              <a:rect r="r" b="b" t="t" l="l"/>
              <a:pathLst>
                <a:path h="2200201" w="17287239">
                  <a:moveTo>
                    <a:pt x="0" y="0"/>
                  </a:moveTo>
                  <a:lnTo>
                    <a:pt x="17287239" y="0"/>
                  </a:lnTo>
                  <a:lnTo>
                    <a:pt x="17287239" y="2200201"/>
                  </a:lnTo>
                  <a:lnTo>
                    <a:pt x="0" y="2200201"/>
                  </a:lnTo>
                  <a:close/>
                </a:path>
              </a:pathLst>
            </a:custGeom>
            <a:solidFill>
              <a:srgbClr val="000000">
                <a:alpha val="0"/>
              </a:srgbClr>
            </a:solidFill>
          </p:spPr>
        </p:sp>
        <p:sp>
          <p:nvSpPr>
            <p:cNvPr name="TextBox 11" id="11"/>
            <p:cNvSpPr txBox="true"/>
            <p:nvPr/>
          </p:nvSpPr>
          <p:spPr>
            <a:xfrm>
              <a:off x="0" y="-28575"/>
              <a:ext cx="17287240" cy="2228776"/>
            </a:xfrm>
            <a:prstGeom prst="rect">
              <a:avLst/>
            </a:prstGeom>
          </p:spPr>
          <p:txBody>
            <a:bodyPr anchor="ctr" rtlCol="false" tIns="0" lIns="0" bIns="0" rIns="0"/>
            <a:lstStyle/>
            <a:p>
              <a:pPr algn="ctr">
                <a:lnSpc>
                  <a:spcPts val="9720"/>
                </a:lnSpc>
              </a:pPr>
              <a:r>
                <a:rPr lang="en-US" sz="8100" b="true">
                  <a:solidFill>
                    <a:srgbClr val="000000"/>
                  </a:solidFill>
                  <a:latin typeface="Arimo Bold"/>
                  <a:ea typeface="Arimo Bold"/>
                  <a:cs typeface="Arimo Bold"/>
                  <a:sym typeface="Arimo Bold"/>
                </a:rPr>
                <a:t>VẬN DỤNG</a:t>
              </a:r>
            </a:p>
          </p:txBody>
        </p:sp>
      </p:grpSp>
      <p:grpSp>
        <p:nvGrpSpPr>
          <p:cNvPr name="Group 12" id="12"/>
          <p:cNvGrpSpPr/>
          <p:nvPr/>
        </p:nvGrpSpPr>
        <p:grpSpPr>
          <a:xfrm rot="0">
            <a:off x="394335" y="9069705"/>
            <a:ext cx="996969" cy="85725"/>
            <a:chOff x="0" y="0"/>
            <a:chExt cx="1329292" cy="114300"/>
          </a:xfrm>
        </p:grpSpPr>
        <p:sp>
          <p:nvSpPr>
            <p:cNvPr name="Freeform 13" id="13"/>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4" id="14"/>
          <p:cNvGrpSpPr/>
          <p:nvPr/>
        </p:nvGrpSpPr>
        <p:grpSpPr>
          <a:xfrm rot="0">
            <a:off x="394335" y="9420225"/>
            <a:ext cx="996969" cy="85725"/>
            <a:chOff x="0" y="0"/>
            <a:chExt cx="1329292" cy="114300"/>
          </a:xfrm>
        </p:grpSpPr>
        <p:sp>
          <p:nvSpPr>
            <p:cNvPr name="Freeform 15" id="15"/>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6" id="16"/>
          <p:cNvGrpSpPr/>
          <p:nvPr/>
        </p:nvGrpSpPr>
        <p:grpSpPr>
          <a:xfrm rot="0">
            <a:off x="394335" y="9770745"/>
            <a:ext cx="996969" cy="85725"/>
            <a:chOff x="0" y="0"/>
            <a:chExt cx="1329292" cy="114300"/>
          </a:xfrm>
        </p:grpSpPr>
        <p:sp>
          <p:nvSpPr>
            <p:cNvPr name="Freeform 17" id="17"/>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18" id="18"/>
          <p:cNvGrpSpPr/>
          <p:nvPr/>
        </p:nvGrpSpPr>
        <p:grpSpPr>
          <a:xfrm rot="0">
            <a:off x="422910" y="289560"/>
            <a:ext cx="534352" cy="534352"/>
            <a:chOff x="0" y="0"/>
            <a:chExt cx="712470" cy="712470"/>
          </a:xfrm>
        </p:grpSpPr>
        <p:sp>
          <p:nvSpPr>
            <p:cNvPr name="Freeform 19" id="19"/>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0" id="20"/>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1" id="21"/>
          <p:cNvGrpSpPr/>
          <p:nvPr/>
        </p:nvGrpSpPr>
        <p:grpSpPr>
          <a:xfrm rot="0">
            <a:off x="1863090" y="289560"/>
            <a:ext cx="534352" cy="534352"/>
            <a:chOff x="0" y="0"/>
            <a:chExt cx="712470" cy="712470"/>
          </a:xfrm>
        </p:grpSpPr>
        <p:sp>
          <p:nvSpPr>
            <p:cNvPr name="Freeform 22" id="22"/>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23" id="23"/>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24" id="24"/>
          <p:cNvGrpSpPr/>
          <p:nvPr/>
        </p:nvGrpSpPr>
        <p:grpSpPr>
          <a:xfrm rot="0">
            <a:off x="1143000" y="289560"/>
            <a:ext cx="534352" cy="534352"/>
            <a:chOff x="0" y="0"/>
            <a:chExt cx="712470" cy="712470"/>
          </a:xfrm>
        </p:grpSpPr>
        <p:sp>
          <p:nvSpPr>
            <p:cNvPr name="Freeform 25" id="25"/>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6" id="26"/>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27" id="27"/>
          <p:cNvGrpSpPr/>
          <p:nvPr/>
        </p:nvGrpSpPr>
        <p:grpSpPr>
          <a:xfrm rot="0">
            <a:off x="2583180" y="289560"/>
            <a:ext cx="534353" cy="534352"/>
            <a:chOff x="0" y="0"/>
            <a:chExt cx="712470" cy="712470"/>
          </a:xfrm>
        </p:grpSpPr>
        <p:sp>
          <p:nvSpPr>
            <p:cNvPr name="Freeform 28" id="28"/>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29" id="29"/>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3330892" y="194310"/>
            <a:ext cx="11596688" cy="671512"/>
            <a:chOff x="0" y="0"/>
            <a:chExt cx="15462250" cy="895350"/>
          </a:xfrm>
        </p:grpSpPr>
        <p:sp>
          <p:nvSpPr>
            <p:cNvPr name="Freeform 5" id="5"/>
            <p:cNvSpPr/>
            <p:nvPr/>
          </p:nvSpPr>
          <p:spPr>
            <a:xfrm flipH="false" flipV="false" rot="0">
              <a:off x="0" y="0"/>
              <a:ext cx="15462250" cy="895350"/>
            </a:xfrm>
            <a:custGeom>
              <a:avLst/>
              <a:gdLst/>
              <a:ahLst/>
              <a:cxnLst/>
              <a:rect r="r" b="b" t="t" l="l"/>
              <a:pathLst>
                <a:path h="895350" w="15462250">
                  <a:moveTo>
                    <a:pt x="0" y="447675"/>
                  </a:moveTo>
                  <a:cubicBezTo>
                    <a:pt x="0" y="200406"/>
                    <a:pt x="200406" y="0"/>
                    <a:pt x="447675" y="0"/>
                  </a:cubicBezTo>
                  <a:lnTo>
                    <a:pt x="15014575" y="0"/>
                  </a:lnTo>
                  <a:cubicBezTo>
                    <a:pt x="15261844" y="0"/>
                    <a:pt x="15462250" y="200406"/>
                    <a:pt x="15462250" y="447675"/>
                  </a:cubicBezTo>
                  <a:cubicBezTo>
                    <a:pt x="15462250" y="694944"/>
                    <a:pt x="15261844" y="895350"/>
                    <a:pt x="15014575" y="895350"/>
                  </a:cubicBezTo>
                  <a:lnTo>
                    <a:pt x="447675" y="895350"/>
                  </a:lnTo>
                  <a:cubicBezTo>
                    <a:pt x="200406" y="895350"/>
                    <a:pt x="0" y="694944"/>
                    <a:pt x="0" y="447675"/>
                  </a:cubicBezTo>
                  <a:close/>
                </a:path>
              </a:pathLst>
            </a:custGeom>
            <a:solidFill>
              <a:srgbClr val="FFFFFF"/>
            </a:solidFill>
            <a:ln w="12700">
              <a:solidFill>
                <a:srgbClr val="000000"/>
              </a:solidFill>
            </a:ln>
          </p:spPr>
        </p:sp>
      </p:grpSp>
      <p:grpSp>
        <p:nvGrpSpPr>
          <p:cNvPr name="Group 6" id="6"/>
          <p:cNvGrpSpPr/>
          <p:nvPr/>
        </p:nvGrpSpPr>
        <p:grpSpPr>
          <a:xfrm rot="0">
            <a:off x="17282160" y="274470"/>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482115"/>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17282160" y="689760"/>
            <a:ext cx="597218" cy="57150"/>
            <a:chOff x="0" y="0"/>
            <a:chExt cx="796290" cy="76200"/>
          </a:xfrm>
        </p:grpSpPr>
        <p:sp>
          <p:nvSpPr>
            <p:cNvPr name="Freeform 11" id="11"/>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2" id="12"/>
          <p:cNvGrpSpPr/>
          <p:nvPr/>
        </p:nvGrpSpPr>
        <p:grpSpPr>
          <a:xfrm rot="0">
            <a:off x="360045" y="232410"/>
            <a:ext cx="483870" cy="485775"/>
            <a:chOff x="0" y="0"/>
            <a:chExt cx="645160" cy="647700"/>
          </a:xfrm>
        </p:grpSpPr>
        <p:sp>
          <p:nvSpPr>
            <p:cNvPr name="Freeform 13" id="13"/>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4" id="14"/>
          <p:cNvGrpSpPr/>
          <p:nvPr/>
        </p:nvGrpSpPr>
        <p:grpSpPr>
          <a:xfrm rot="0">
            <a:off x="3384233" y="213360"/>
            <a:ext cx="11249978" cy="552450"/>
            <a:chOff x="0" y="0"/>
            <a:chExt cx="14999970" cy="736600"/>
          </a:xfrm>
        </p:grpSpPr>
        <p:sp>
          <p:nvSpPr>
            <p:cNvPr name="Freeform 15" id="15"/>
            <p:cNvSpPr/>
            <p:nvPr/>
          </p:nvSpPr>
          <p:spPr>
            <a:xfrm flipH="false" flipV="false" rot="0">
              <a:off x="0" y="0"/>
              <a:ext cx="14999970" cy="736600"/>
            </a:xfrm>
            <a:custGeom>
              <a:avLst/>
              <a:gdLst/>
              <a:ahLst/>
              <a:cxnLst/>
              <a:rect r="r" b="b" t="t" l="l"/>
              <a:pathLst>
                <a:path h="736600" w="14999970">
                  <a:moveTo>
                    <a:pt x="0" y="0"/>
                  </a:moveTo>
                  <a:lnTo>
                    <a:pt x="14999970" y="0"/>
                  </a:lnTo>
                  <a:lnTo>
                    <a:pt x="14999970" y="736600"/>
                  </a:lnTo>
                  <a:lnTo>
                    <a:pt x="0" y="736600"/>
                  </a:lnTo>
                  <a:close/>
                </a:path>
              </a:pathLst>
            </a:custGeom>
            <a:solidFill>
              <a:srgbClr val="000000">
                <a:alpha val="0"/>
              </a:srgbClr>
            </a:solidFill>
          </p:spPr>
        </p:sp>
        <p:sp>
          <p:nvSpPr>
            <p:cNvPr name="TextBox 16" id="16"/>
            <p:cNvSpPr txBox="true"/>
            <p:nvPr/>
          </p:nvSpPr>
          <p:spPr>
            <a:xfrm>
              <a:off x="0" y="-28575"/>
              <a:ext cx="14999970" cy="765175"/>
            </a:xfrm>
            <a:prstGeom prst="rect">
              <a:avLst/>
            </a:prstGeom>
          </p:spPr>
          <p:txBody>
            <a:bodyPr anchor="ctr" rtlCol="false" tIns="0" lIns="0" bIns="0" rIns="0"/>
            <a:lstStyle/>
            <a:p>
              <a:pPr algn="ctr">
                <a:lnSpc>
                  <a:spcPts val="4320"/>
                </a:lnSpc>
              </a:pPr>
              <a:r>
                <a:rPr lang="en-US" sz="3600">
                  <a:solidFill>
                    <a:srgbClr val="000000"/>
                  </a:solidFill>
                  <a:latin typeface="Arimo"/>
                  <a:ea typeface="Arimo"/>
                  <a:cs typeface="Arimo"/>
                  <a:sym typeface="Arimo"/>
                </a:rPr>
                <a:t>Tạo biểu mẫu mới theo chủ đề</a:t>
              </a:r>
            </a:p>
          </p:txBody>
        </p:sp>
      </p:grpSp>
      <p:grpSp>
        <p:nvGrpSpPr>
          <p:cNvPr name="Group 17" id="17"/>
          <p:cNvGrpSpPr/>
          <p:nvPr/>
        </p:nvGrpSpPr>
        <p:grpSpPr>
          <a:xfrm rot="0">
            <a:off x="1160145" y="4756785"/>
            <a:ext cx="3898583" cy="57150"/>
            <a:chOff x="0" y="0"/>
            <a:chExt cx="5198110" cy="76200"/>
          </a:xfrm>
        </p:grpSpPr>
        <p:sp>
          <p:nvSpPr>
            <p:cNvPr name="Freeform 18" id="18"/>
            <p:cNvSpPr/>
            <p:nvPr/>
          </p:nvSpPr>
          <p:spPr>
            <a:xfrm flipH="false" flipV="false" rot="0">
              <a:off x="38100" y="0"/>
              <a:ext cx="5029200" cy="76200"/>
            </a:xfrm>
            <a:custGeom>
              <a:avLst/>
              <a:gdLst/>
              <a:ahLst/>
              <a:cxnLst/>
              <a:rect r="r" b="b" t="t" l="l"/>
              <a:pathLst>
                <a:path h="76200" w="5029200">
                  <a:moveTo>
                    <a:pt x="533400" y="0"/>
                  </a:moveTo>
                  <a:lnTo>
                    <a:pt x="762000" y="0"/>
                  </a:lnTo>
                  <a:lnTo>
                    <a:pt x="762000" y="76200"/>
                  </a:lnTo>
                  <a:lnTo>
                    <a:pt x="533400" y="76200"/>
                  </a:lnTo>
                  <a:close/>
                  <a:moveTo>
                    <a:pt x="1066800" y="0"/>
                  </a:moveTo>
                  <a:lnTo>
                    <a:pt x="1295400" y="0"/>
                  </a:lnTo>
                  <a:lnTo>
                    <a:pt x="1295400" y="76200"/>
                  </a:lnTo>
                  <a:lnTo>
                    <a:pt x="1066800" y="76200"/>
                  </a:lnTo>
                  <a:close/>
                  <a:moveTo>
                    <a:pt x="1600200" y="76200"/>
                  </a:moveTo>
                  <a:lnTo>
                    <a:pt x="1828800" y="76200"/>
                  </a:lnTo>
                  <a:lnTo>
                    <a:pt x="1600200" y="76200"/>
                  </a:lnTo>
                  <a:close/>
                  <a:moveTo>
                    <a:pt x="2133600" y="76200"/>
                  </a:moveTo>
                  <a:lnTo>
                    <a:pt x="2362200" y="76200"/>
                  </a:lnTo>
                  <a:lnTo>
                    <a:pt x="2133600" y="76200"/>
                  </a:lnTo>
                  <a:close/>
                  <a:moveTo>
                    <a:pt x="2667000" y="76200"/>
                  </a:moveTo>
                  <a:lnTo>
                    <a:pt x="2895600" y="76200"/>
                  </a:lnTo>
                  <a:lnTo>
                    <a:pt x="2667000" y="76200"/>
                  </a:lnTo>
                  <a:close/>
                  <a:moveTo>
                    <a:pt x="3200400" y="76200"/>
                  </a:moveTo>
                  <a:lnTo>
                    <a:pt x="3429000" y="76200"/>
                  </a:lnTo>
                  <a:lnTo>
                    <a:pt x="3200400" y="76200"/>
                  </a:lnTo>
                  <a:close/>
                  <a:moveTo>
                    <a:pt x="3733800" y="76200"/>
                  </a:moveTo>
                  <a:lnTo>
                    <a:pt x="3962400" y="76200"/>
                  </a:lnTo>
                  <a:lnTo>
                    <a:pt x="3733800" y="76200"/>
                  </a:lnTo>
                  <a:close/>
                  <a:moveTo>
                    <a:pt x="4267200" y="76200"/>
                  </a:moveTo>
                  <a:lnTo>
                    <a:pt x="4495800" y="76200"/>
                  </a:lnTo>
                  <a:lnTo>
                    <a:pt x="4267200" y="76200"/>
                  </a:lnTo>
                  <a:close/>
                  <a:moveTo>
                    <a:pt x="4800600" y="76200"/>
                  </a:moveTo>
                  <a:lnTo>
                    <a:pt x="5029200" y="76200"/>
                  </a:lnTo>
                  <a:lnTo>
                    <a:pt x="4800600" y="76200"/>
                  </a:lnTo>
                  <a:close/>
                  <a:moveTo>
                    <a:pt x="0" y="0"/>
                  </a:moveTo>
                  <a:lnTo>
                    <a:pt x="228600" y="0"/>
                  </a:lnTo>
                  <a:lnTo>
                    <a:pt x="228600" y="76200"/>
                  </a:lnTo>
                  <a:lnTo>
                    <a:pt x="0" y="76200"/>
                  </a:lnTo>
                  <a:close/>
                </a:path>
              </a:pathLst>
            </a:custGeom>
            <a:solidFill>
              <a:srgbClr val="000000"/>
            </a:solidFill>
            <a:ln w="12700">
              <a:solidFill>
                <a:srgbClr val="000000"/>
              </a:solidFill>
            </a:ln>
          </p:spPr>
        </p:sp>
      </p:grpSp>
      <p:grpSp>
        <p:nvGrpSpPr>
          <p:cNvPr name="Group 19" id="19"/>
          <p:cNvGrpSpPr/>
          <p:nvPr/>
        </p:nvGrpSpPr>
        <p:grpSpPr>
          <a:xfrm rot="0">
            <a:off x="13271182" y="4756785"/>
            <a:ext cx="3898582" cy="57150"/>
            <a:chOff x="0" y="0"/>
            <a:chExt cx="5198110" cy="76200"/>
          </a:xfrm>
        </p:grpSpPr>
        <p:sp>
          <p:nvSpPr>
            <p:cNvPr name="Freeform 20" id="20"/>
            <p:cNvSpPr/>
            <p:nvPr/>
          </p:nvSpPr>
          <p:spPr>
            <a:xfrm flipH="false" flipV="false" rot="0">
              <a:off x="38100" y="0"/>
              <a:ext cx="5029200" cy="76200"/>
            </a:xfrm>
            <a:custGeom>
              <a:avLst/>
              <a:gdLst/>
              <a:ahLst/>
              <a:cxnLst/>
              <a:rect r="r" b="b" t="t" l="l"/>
              <a:pathLst>
                <a:path h="76200" w="5029200">
                  <a:moveTo>
                    <a:pt x="533400" y="0"/>
                  </a:moveTo>
                  <a:lnTo>
                    <a:pt x="762000" y="0"/>
                  </a:lnTo>
                  <a:lnTo>
                    <a:pt x="762000" y="76200"/>
                  </a:lnTo>
                  <a:lnTo>
                    <a:pt x="533400" y="76200"/>
                  </a:lnTo>
                  <a:close/>
                  <a:moveTo>
                    <a:pt x="1066800" y="0"/>
                  </a:moveTo>
                  <a:lnTo>
                    <a:pt x="1295400" y="0"/>
                  </a:lnTo>
                  <a:lnTo>
                    <a:pt x="1295400" y="76200"/>
                  </a:lnTo>
                  <a:lnTo>
                    <a:pt x="1066800" y="76200"/>
                  </a:lnTo>
                  <a:close/>
                  <a:moveTo>
                    <a:pt x="1600200" y="76200"/>
                  </a:moveTo>
                  <a:lnTo>
                    <a:pt x="1828800" y="76200"/>
                  </a:lnTo>
                  <a:lnTo>
                    <a:pt x="1600200" y="76200"/>
                  </a:lnTo>
                  <a:close/>
                  <a:moveTo>
                    <a:pt x="2133600" y="76200"/>
                  </a:moveTo>
                  <a:lnTo>
                    <a:pt x="2362200" y="76200"/>
                  </a:lnTo>
                  <a:lnTo>
                    <a:pt x="2133600" y="76200"/>
                  </a:lnTo>
                  <a:close/>
                  <a:moveTo>
                    <a:pt x="2667000" y="76200"/>
                  </a:moveTo>
                  <a:lnTo>
                    <a:pt x="2895600" y="76200"/>
                  </a:lnTo>
                  <a:lnTo>
                    <a:pt x="2667000" y="76200"/>
                  </a:lnTo>
                  <a:close/>
                  <a:moveTo>
                    <a:pt x="3200400" y="76200"/>
                  </a:moveTo>
                  <a:lnTo>
                    <a:pt x="3429000" y="76200"/>
                  </a:lnTo>
                  <a:lnTo>
                    <a:pt x="3200400" y="76200"/>
                  </a:lnTo>
                  <a:close/>
                  <a:moveTo>
                    <a:pt x="3733800" y="76200"/>
                  </a:moveTo>
                  <a:lnTo>
                    <a:pt x="3962400" y="76200"/>
                  </a:lnTo>
                  <a:lnTo>
                    <a:pt x="3733800" y="76200"/>
                  </a:lnTo>
                  <a:close/>
                  <a:moveTo>
                    <a:pt x="4267200" y="76200"/>
                  </a:moveTo>
                  <a:lnTo>
                    <a:pt x="4495800" y="76200"/>
                  </a:lnTo>
                  <a:lnTo>
                    <a:pt x="4267200" y="76200"/>
                  </a:lnTo>
                  <a:close/>
                  <a:moveTo>
                    <a:pt x="4800600" y="76200"/>
                  </a:moveTo>
                  <a:lnTo>
                    <a:pt x="5029200" y="76200"/>
                  </a:lnTo>
                  <a:lnTo>
                    <a:pt x="4800600" y="76200"/>
                  </a:lnTo>
                  <a:close/>
                  <a:moveTo>
                    <a:pt x="0" y="0"/>
                  </a:moveTo>
                  <a:lnTo>
                    <a:pt x="228600" y="0"/>
                  </a:lnTo>
                  <a:lnTo>
                    <a:pt x="228600" y="76200"/>
                  </a:lnTo>
                  <a:lnTo>
                    <a:pt x="0" y="76200"/>
                  </a:lnTo>
                  <a:close/>
                </a:path>
              </a:pathLst>
            </a:custGeom>
            <a:solidFill>
              <a:srgbClr val="000000"/>
            </a:solidFill>
            <a:ln w="12700">
              <a:solidFill>
                <a:srgbClr val="000000"/>
              </a:solidFill>
            </a:ln>
          </p:spPr>
        </p:sp>
      </p:grpSp>
      <p:grpSp>
        <p:nvGrpSpPr>
          <p:cNvPr name="Group 21" id="21"/>
          <p:cNvGrpSpPr>
            <a:grpSpLocks noChangeAspect="true"/>
          </p:cNvGrpSpPr>
          <p:nvPr/>
        </p:nvGrpSpPr>
        <p:grpSpPr>
          <a:xfrm rot="0">
            <a:off x="6202680" y="2078355"/>
            <a:ext cx="5755005" cy="6221730"/>
            <a:chOff x="0" y="0"/>
            <a:chExt cx="7673340" cy="8295640"/>
          </a:xfrm>
        </p:grpSpPr>
        <p:sp>
          <p:nvSpPr>
            <p:cNvPr name="Freeform 22" id="22" descr="https://kimi-img.moonshot.cn/pub/slides/slides_tmpl/image/25-08-27-19:57:41-d2nf5d98bjvh7rlivsmg.png"/>
            <p:cNvSpPr/>
            <p:nvPr/>
          </p:nvSpPr>
          <p:spPr>
            <a:xfrm flipH="false" flipV="false" rot="0">
              <a:off x="0" y="0"/>
              <a:ext cx="7673340" cy="8295640"/>
            </a:xfrm>
            <a:custGeom>
              <a:avLst/>
              <a:gdLst/>
              <a:ahLst/>
              <a:cxnLst/>
              <a:rect r="r" b="b" t="t" l="l"/>
              <a:pathLst>
                <a:path h="8295640" w="7673340">
                  <a:moveTo>
                    <a:pt x="0" y="0"/>
                  </a:moveTo>
                  <a:lnTo>
                    <a:pt x="7673340" y="0"/>
                  </a:lnTo>
                  <a:lnTo>
                    <a:pt x="7673340" y="8295640"/>
                  </a:lnTo>
                  <a:lnTo>
                    <a:pt x="0" y="8295640"/>
                  </a:lnTo>
                  <a:lnTo>
                    <a:pt x="0" y="0"/>
                  </a:lnTo>
                  <a:close/>
                </a:path>
              </a:pathLst>
            </a:custGeom>
            <a:blipFill>
              <a:blip r:embed="rId3"/>
              <a:stretch>
                <a:fillRect l="-6" t="0" r="-6" b="0"/>
              </a:stretch>
            </a:blipFill>
          </p:spPr>
        </p:sp>
      </p:grpSp>
      <p:grpSp>
        <p:nvGrpSpPr>
          <p:cNvPr name="Group 23" id="23"/>
          <p:cNvGrpSpPr/>
          <p:nvPr/>
        </p:nvGrpSpPr>
        <p:grpSpPr>
          <a:xfrm rot="-10800000">
            <a:off x="2276913" y="1606973"/>
            <a:ext cx="1312612" cy="1314150"/>
            <a:chOff x="0" y="0"/>
            <a:chExt cx="1750150" cy="1752200"/>
          </a:xfrm>
        </p:grpSpPr>
        <p:sp>
          <p:nvSpPr>
            <p:cNvPr name="Freeform 24" id="24"/>
            <p:cNvSpPr/>
            <p:nvPr/>
          </p:nvSpPr>
          <p:spPr>
            <a:xfrm flipH="false" flipV="false" rot="0">
              <a:off x="0" y="0"/>
              <a:ext cx="1750060" cy="1752092"/>
            </a:xfrm>
            <a:custGeom>
              <a:avLst/>
              <a:gdLst/>
              <a:ahLst/>
              <a:cxnLst/>
              <a:rect r="r" b="b" t="t" l="l"/>
              <a:pathLst>
                <a:path h="1752092" w="1750060">
                  <a:moveTo>
                    <a:pt x="0" y="876046"/>
                  </a:moveTo>
                  <a:cubicBezTo>
                    <a:pt x="0" y="1359916"/>
                    <a:pt x="391795" y="1752092"/>
                    <a:pt x="875030" y="1752092"/>
                  </a:cubicBezTo>
                  <a:cubicBezTo>
                    <a:pt x="1358265" y="1752092"/>
                    <a:pt x="1750060" y="1359789"/>
                    <a:pt x="1750060" y="876046"/>
                  </a:cubicBezTo>
                  <a:cubicBezTo>
                    <a:pt x="1750060" y="392303"/>
                    <a:pt x="1358392" y="0"/>
                    <a:pt x="875030" y="0"/>
                  </a:cubicBezTo>
                  <a:cubicBezTo>
                    <a:pt x="391668" y="0"/>
                    <a:pt x="0" y="392303"/>
                    <a:pt x="0" y="876046"/>
                  </a:cubicBezTo>
                  <a:close/>
                </a:path>
              </a:pathLst>
            </a:custGeom>
            <a:solidFill>
              <a:srgbClr val="00B0F0"/>
            </a:solidFill>
            <a:ln w="12700">
              <a:solidFill>
                <a:srgbClr val="000000"/>
              </a:solidFill>
            </a:ln>
          </p:spPr>
        </p:sp>
      </p:grpSp>
      <p:grpSp>
        <p:nvGrpSpPr>
          <p:cNvPr name="Group 25" id="25"/>
          <p:cNvGrpSpPr/>
          <p:nvPr/>
        </p:nvGrpSpPr>
        <p:grpSpPr>
          <a:xfrm rot="-10800000">
            <a:off x="14549876" y="1626975"/>
            <a:ext cx="1312612" cy="1314150"/>
            <a:chOff x="0" y="0"/>
            <a:chExt cx="1750150" cy="1752200"/>
          </a:xfrm>
        </p:grpSpPr>
        <p:sp>
          <p:nvSpPr>
            <p:cNvPr name="Freeform 26" id="26"/>
            <p:cNvSpPr/>
            <p:nvPr/>
          </p:nvSpPr>
          <p:spPr>
            <a:xfrm flipH="false" flipV="false" rot="0">
              <a:off x="0" y="0"/>
              <a:ext cx="1750060" cy="1752092"/>
            </a:xfrm>
            <a:custGeom>
              <a:avLst/>
              <a:gdLst/>
              <a:ahLst/>
              <a:cxnLst/>
              <a:rect r="r" b="b" t="t" l="l"/>
              <a:pathLst>
                <a:path h="1752092" w="1750060">
                  <a:moveTo>
                    <a:pt x="0" y="876046"/>
                  </a:moveTo>
                  <a:cubicBezTo>
                    <a:pt x="0" y="1359916"/>
                    <a:pt x="391795" y="1752092"/>
                    <a:pt x="875030" y="1752092"/>
                  </a:cubicBezTo>
                  <a:cubicBezTo>
                    <a:pt x="1358265" y="1752092"/>
                    <a:pt x="1750060" y="1359789"/>
                    <a:pt x="1750060" y="876046"/>
                  </a:cubicBezTo>
                  <a:cubicBezTo>
                    <a:pt x="1750060" y="392303"/>
                    <a:pt x="1358392" y="0"/>
                    <a:pt x="875030" y="0"/>
                  </a:cubicBezTo>
                  <a:cubicBezTo>
                    <a:pt x="391668" y="0"/>
                    <a:pt x="0" y="392303"/>
                    <a:pt x="0" y="876046"/>
                  </a:cubicBezTo>
                  <a:close/>
                </a:path>
              </a:pathLst>
            </a:custGeom>
            <a:solidFill>
              <a:srgbClr val="00B0F0"/>
            </a:solidFill>
            <a:ln w="12700">
              <a:solidFill>
                <a:srgbClr val="000000"/>
              </a:solidFill>
            </a:ln>
          </p:spPr>
        </p:sp>
      </p:grpSp>
      <p:grpSp>
        <p:nvGrpSpPr>
          <p:cNvPr name="Group 27" id="27"/>
          <p:cNvGrpSpPr/>
          <p:nvPr/>
        </p:nvGrpSpPr>
        <p:grpSpPr>
          <a:xfrm rot="0">
            <a:off x="0" y="9930765"/>
            <a:ext cx="18288000" cy="356235"/>
            <a:chOff x="0" y="0"/>
            <a:chExt cx="24384000" cy="474980"/>
          </a:xfrm>
        </p:grpSpPr>
        <p:sp>
          <p:nvSpPr>
            <p:cNvPr name="Freeform 28" id="28"/>
            <p:cNvSpPr/>
            <p:nvPr/>
          </p:nvSpPr>
          <p:spPr>
            <a:xfrm flipH="false" flipV="false" rot="0">
              <a:off x="0" y="0"/>
              <a:ext cx="24384000" cy="474980"/>
            </a:xfrm>
            <a:custGeom>
              <a:avLst/>
              <a:gdLst/>
              <a:ahLst/>
              <a:cxnLst/>
              <a:rect r="r" b="b" t="t" l="l"/>
              <a:pathLst>
                <a:path h="474980" w="24384000">
                  <a:moveTo>
                    <a:pt x="0" y="0"/>
                  </a:moveTo>
                  <a:lnTo>
                    <a:pt x="24384000" y="0"/>
                  </a:lnTo>
                  <a:lnTo>
                    <a:pt x="24384000" y="474980"/>
                  </a:lnTo>
                  <a:lnTo>
                    <a:pt x="0" y="474980"/>
                  </a:lnTo>
                  <a:close/>
                </a:path>
              </a:pathLst>
            </a:custGeom>
            <a:solidFill>
              <a:srgbClr val="00B0F0"/>
            </a:solidFill>
            <a:ln w="12700">
              <a:solidFill>
                <a:srgbClr val="000000"/>
              </a:solidFill>
            </a:ln>
          </p:spPr>
        </p:sp>
      </p:grpSp>
      <p:sp>
        <p:nvSpPr>
          <p:cNvPr name="TextBox 29" id="29"/>
          <p:cNvSpPr txBox="true"/>
          <p:nvPr/>
        </p:nvSpPr>
        <p:spPr>
          <a:xfrm rot="0">
            <a:off x="2387917" y="1797367"/>
            <a:ext cx="1111568" cy="780990"/>
          </a:xfrm>
          <a:prstGeom prst="rect">
            <a:avLst/>
          </a:prstGeom>
        </p:spPr>
        <p:txBody>
          <a:bodyPr anchor="t" rtlCol="false" tIns="0" lIns="0" bIns="0" rIns="0">
            <a:spAutoFit/>
          </a:bodyPr>
          <a:lstStyle/>
          <a:p>
            <a:pPr algn="ctr">
              <a:lnSpc>
                <a:spcPts val="6480"/>
              </a:lnSpc>
            </a:pPr>
            <a:r>
              <a:rPr lang="en-US" sz="5400" b="true">
                <a:solidFill>
                  <a:srgbClr val="FFFFFF"/>
                </a:solidFill>
                <a:latin typeface="Arimo Bold"/>
                <a:ea typeface="Arimo Bold"/>
                <a:cs typeface="Arimo Bold"/>
                <a:sym typeface="Arimo Bold"/>
              </a:rPr>
              <a:t>1</a:t>
            </a:r>
          </a:p>
        </p:txBody>
      </p:sp>
      <p:sp>
        <p:nvSpPr>
          <p:cNvPr name="TextBox 30" id="30"/>
          <p:cNvSpPr txBox="true"/>
          <p:nvPr/>
        </p:nvSpPr>
        <p:spPr>
          <a:xfrm rot="0">
            <a:off x="1243012" y="3328035"/>
            <a:ext cx="3729990" cy="959168"/>
          </a:xfrm>
          <a:prstGeom prst="rect">
            <a:avLst/>
          </a:prstGeom>
        </p:spPr>
        <p:txBody>
          <a:bodyPr anchor="t" rtlCol="false" tIns="0" lIns="0" bIns="0" rIns="0">
            <a:spAutoFit/>
          </a:bodyPr>
          <a:lstStyle/>
          <a:p>
            <a:pPr algn="ctr">
              <a:lnSpc>
                <a:spcPts val="4320"/>
              </a:lnSpc>
            </a:pPr>
            <a:r>
              <a:rPr lang="en-US" sz="3600" b="true">
                <a:solidFill>
                  <a:srgbClr val="00B0F0"/>
                </a:solidFill>
                <a:latin typeface="Arimo Bold"/>
                <a:ea typeface="Arimo Bold"/>
                <a:cs typeface="Arimo Bold"/>
                <a:sym typeface="Arimo Bold"/>
              </a:rPr>
              <a:t>Nhiệm vụ nhóm</a:t>
            </a:r>
          </a:p>
        </p:txBody>
      </p:sp>
      <p:sp>
        <p:nvSpPr>
          <p:cNvPr name="TextBox 31" id="31"/>
          <p:cNvSpPr txBox="true"/>
          <p:nvPr/>
        </p:nvSpPr>
        <p:spPr>
          <a:xfrm rot="0">
            <a:off x="1110615" y="4868227"/>
            <a:ext cx="3997642" cy="4258057"/>
          </a:xfrm>
          <a:prstGeom prst="rect">
            <a:avLst/>
          </a:prstGeom>
        </p:spPr>
        <p:txBody>
          <a:bodyPr anchor="t" rtlCol="false" tIns="0" lIns="0" bIns="0" rIns="0">
            <a:spAutoFit/>
          </a:bodyPr>
          <a:lstStyle/>
          <a:p>
            <a:pPr algn="l">
              <a:lnSpc>
                <a:spcPts val="4211"/>
              </a:lnSpc>
            </a:pPr>
            <a:r>
              <a:rPr lang="en-US" sz="2699">
                <a:solidFill>
                  <a:srgbClr val="595959"/>
                </a:solidFill>
                <a:latin typeface="Arimo"/>
                <a:ea typeface="Arimo"/>
                <a:cs typeface="Arimo"/>
                <a:sym typeface="Arimo"/>
              </a:rPr>
              <a:t>Nhiệm vụ của nhóm là thiết kế một biểu mẫu mới có tên ví dụ 'Những bài ca đi cùng năm tháng' để thu thập ý kiến của người xem về các bài hát cách mạng và nội dung muốn bổ sung.</a:t>
            </a:r>
          </a:p>
        </p:txBody>
      </p:sp>
      <p:sp>
        <p:nvSpPr>
          <p:cNvPr name="TextBox 32" id="32"/>
          <p:cNvSpPr txBox="true"/>
          <p:nvPr/>
        </p:nvSpPr>
        <p:spPr>
          <a:xfrm rot="0">
            <a:off x="14660880" y="1817370"/>
            <a:ext cx="1111568" cy="780990"/>
          </a:xfrm>
          <a:prstGeom prst="rect">
            <a:avLst/>
          </a:prstGeom>
        </p:spPr>
        <p:txBody>
          <a:bodyPr anchor="t" rtlCol="false" tIns="0" lIns="0" bIns="0" rIns="0">
            <a:spAutoFit/>
          </a:bodyPr>
          <a:lstStyle/>
          <a:p>
            <a:pPr algn="ctr">
              <a:lnSpc>
                <a:spcPts val="6480"/>
              </a:lnSpc>
            </a:pPr>
            <a:r>
              <a:rPr lang="en-US" sz="5400" b="true">
                <a:solidFill>
                  <a:srgbClr val="FFFFFF"/>
                </a:solidFill>
                <a:latin typeface="Arimo Bold"/>
                <a:ea typeface="Arimo Bold"/>
                <a:cs typeface="Arimo Bold"/>
                <a:sym typeface="Arimo Bold"/>
              </a:rPr>
              <a:t>2</a:t>
            </a:r>
          </a:p>
        </p:txBody>
      </p:sp>
      <p:sp>
        <p:nvSpPr>
          <p:cNvPr name="TextBox 33" id="33"/>
          <p:cNvSpPr txBox="true"/>
          <p:nvPr/>
        </p:nvSpPr>
        <p:spPr>
          <a:xfrm rot="0">
            <a:off x="13390245" y="3328035"/>
            <a:ext cx="3660457" cy="959168"/>
          </a:xfrm>
          <a:prstGeom prst="rect">
            <a:avLst/>
          </a:prstGeom>
        </p:spPr>
        <p:txBody>
          <a:bodyPr anchor="t" rtlCol="false" tIns="0" lIns="0" bIns="0" rIns="0">
            <a:spAutoFit/>
          </a:bodyPr>
          <a:lstStyle/>
          <a:p>
            <a:pPr algn="ctr">
              <a:lnSpc>
                <a:spcPts val="4320"/>
              </a:lnSpc>
            </a:pPr>
            <a:r>
              <a:rPr lang="en-US" sz="3600" b="true">
                <a:solidFill>
                  <a:srgbClr val="00B0F0"/>
                </a:solidFill>
                <a:latin typeface="Arimo Bold"/>
                <a:ea typeface="Arimo Bold"/>
                <a:cs typeface="Arimo Bold"/>
                <a:sym typeface="Arimo Bold"/>
              </a:rPr>
              <a:t>Câu hỏi trong biểu mẫu</a:t>
            </a:r>
          </a:p>
        </p:txBody>
      </p:sp>
      <p:sp>
        <p:nvSpPr>
          <p:cNvPr name="TextBox 34" id="34"/>
          <p:cNvSpPr txBox="true"/>
          <p:nvPr/>
        </p:nvSpPr>
        <p:spPr>
          <a:xfrm rot="0">
            <a:off x="13221652" y="4868227"/>
            <a:ext cx="3997643" cy="3724657"/>
          </a:xfrm>
          <a:prstGeom prst="rect">
            <a:avLst/>
          </a:prstGeom>
        </p:spPr>
        <p:txBody>
          <a:bodyPr anchor="t" rtlCol="false" tIns="0" lIns="0" bIns="0" rIns="0">
            <a:spAutoFit/>
          </a:bodyPr>
          <a:lstStyle/>
          <a:p>
            <a:pPr algn="l">
              <a:lnSpc>
                <a:spcPts val="4211"/>
              </a:lnSpc>
            </a:pPr>
            <a:r>
              <a:rPr lang="en-US" sz="2699">
                <a:solidFill>
                  <a:srgbClr val="595959"/>
                </a:solidFill>
                <a:latin typeface="Arimo"/>
                <a:ea typeface="Arimo"/>
                <a:cs typeface="Arimo"/>
                <a:sym typeface="Arimo"/>
              </a:rPr>
              <a:t>Biểu mẫu sẽ gồm các câu hỏi ví dụ như: </a:t>
            </a:r>
          </a:p>
          <a:p>
            <a:pPr algn="l">
              <a:lnSpc>
                <a:spcPts val="4211"/>
              </a:lnSpc>
            </a:pPr>
            <a:r>
              <a:rPr lang="en-US" sz="2699">
                <a:solidFill>
                  <a:srgbClr val="595959"/>
                </a:solidFill>
                <a:latin typeface="Arimo"/>
                <a:ea typeface="Arimo"/>
                <a:cs typeface="Arimo"/>
                <a:sym typeface="Arimo"/>
              </a:rPr>
              <a:t>+ Bài hát cách mạng yêu thích nhất</a:t>
            </a:r>
          </a:p>
          <a:p>
            <a:pPr algn="l">
              <a:lnSpc>
                <a:spcPts val="4211"/>
              </a:lnSpc>
            </a:pPr>
            <a:r>
              <a:rPr lang="en-US" sz="2699">
                <a:solidFill>
                  <a:srgbClr val="595959"/>
                </a:solidFill>
                <a:latin typeface="Arimo"/>
                <a:ea typeface="Arimo"/>
                <a:cs typeface="Arimo"/>
                <a:sym typeface="Arimo"/>
              </a:rPr>
              <a:t>+ Nội dung muốn bổ sung + Thang điểm hài lòng từ 1 đến 5.</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3330892" y="194310"/>
            <a:ext cx="11596688" cy="671512"/>
            <a:chOff x="0" y="0"/>
            <a:chExt cx="15462250" cy="895350"/>
          </a:xfrm>
        </p:grpSpPr>
        <p:sp>
          <p:nvSpPr>
            <p:cNvPr name="Freeform 5" id="5"/>
            <p:cNvSpPr/>
            <p:nvPr/>
          </p:nvSpPr>
          <p:spPr>
            <a:xfrm flipH="false" flipV="false" rot="0">
              <a:off x="0" y="0"/>
              <a:ext cx="15462250" cy="895350"/>
            </a:xfrm>
            <a:custGeom>
              <a:avLst/>
              <a:gdLst/>
              <a:ahLst/>
              <a:cxnLst/>
              <a:rect r="r" b="b" t="t" l="l"/>
              <a:pathLst>
                <a:path h="895350" w="15462250">
                  <a:moveTo>
                    <a:pt x="0" y="447675"/>
                  </a:moveTo>
                  <a:cubicBezTo>
                    <a:pt x="0" y="200406"/>
                    <a:pt x="200406" y="0"/>
                    <a:pt x="447675" y="0"/>
                  </a:cubicBezTo>
                  <a:lnTo>
                    <a:pt x="15014575" y="0"/>
                  </a:lnTo>
                  <a:cubicBezTo>
                    <a:pt x="15261844" y="0"/>
                    <a:pt x="15462250" y="200406"/>
                    <a:pt x="15462250" y="447675"/>
                  </a:cubicBezTo>
                  <a:cubicBezTo>
                    <a:pt x="15462250" y="694944"/>
                    <a:pt x="15261844" y="895350"/>
                    <a:pt x="15014575" y="895350"/>
                  </a:cubicBezTo>
                  <a:lnTo>
                    <a:pt x="447675" y="895350"/>
                  </a:lnTo>
                  <a:cubicBezTo>
                    <a:pt x="200406" y="895350"/>
                    <a:pt x="0" y="694944"/>
                    <a:pt x="0" y="447675"/>
                  </a:cubicBezTo>
                  <a:close/>
                </a:path>
              </a:pathLst>
            </a:custGeom>
            <a:solidFill>
              <a:srgbClr val="FFFFFF"/>
            </a:solidFill>
            <a:ln w="12700">
              <a:solidFill>
                <a:srgbClr val="000000"/>
              </a:solidFill>
            </a:ln>
          </p:spPr>
        </p:sp>
      </p:grpSp>
      <p:grpSp>
        <p:nvGrpSpPr>
          <p:cNvPr name="Group 6" id="6"/>
          <p:cNvGrpSpPr/>
          <p:nvPr/>
        </p:nvGrpSpPr>
        <p:grpSpPr>
          <a:xfrm rot="0">
            <a:off x="17282160" y="274470"/>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482115"/>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17282160" y="689760"/>
            <a:ext cx="597218" cy="57150"/>
            <a:chOff x="0" y="0"/>
            <a:chExt cx="796290" cy="76200"/>
          </a:xfrm>
        </p:grpSpPr>
        <p:sp>
          <p:nvSpPr>
            <p:cNvPr name="Freeform 11" id="11"/>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2" id="12"/>
          <p:cNvGrpSpPr/>
          <p:nvPr/>
        </p:nvGrpSpPr>
        <p:grpSpPr>
          <a:xfrm rot="0">
            <a:off x="360045" y="232410"/>
            <a:ext cx="483870" cy="485775"/>
            <a:chOff x="0" y="0"/>
            <a:chExt cx="645160" cy="647700"/>
          </a:xfrm>
        </p:grpSpPr>
        <p:sp>
          <p:nvSpPr>
            <p:cNvPr name="Freeform 13" id="13"/>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4" id="14"/>
          <p:cNvGrpSpPr/>
          <p:nvPr/>
        </p:nvGrpSpPr>
        <p:grpSpPr>
          <a:xfrm rot="0">
            <a:off x="3384233" y="213360"/>
            <a:ext cx="11249978" cy="552450"/>
            <a:chOff x="0" y="0"/>
            <a:chExt cx="14999970" cy="736600"/>
          </a:xfrm>
        </p:grpSpPr>
        <p:sp>
          <p:nvSpPr>
            <p:cNvPr name="Freeform 15" id="15"/>
            <p:cNvSpPr/>
            <p:nvPr/>
          </p:nvSpPr>
          <p:spPr>
            <a:xfrm flipH="false" flipV="false" rot="0">
              <a:off x="0" y="0"/>
              <a:ext cx="14999970" cy="736600"/>
            </a:xfrm>
            <a:custGeom>
              <a:avLst/>
              <a:gdLst/>
              <a:ahLst/>
              <a:cxnLst/>
              <a:rect r="r" b="b" t="t" l="l"/>
              <a:pathLst>
                <a:path h="736600" w="14999970">
                  <a:moveTo>
                    <a:pt x="0" y="0"/>
                  </a:moveTo>
                  <a:lnTo>
                    <a:pt x="14999970" y="0"/>
                  </a:lnTo>
                  <a:lnTo>
                    <a:pt x="14999970" y="736600"/>
                  </a:lnTo>
                  <a:lnTo>
                    <a:pt x="0" y="736600"/>
                  </a:lnTo>
                  <a:close/>
                </a:path>
              </a:pathLst>
            </a:custGeom>
            <a:solidFill>
              <a:srgbClr val="000000">
                <a:alpha val="0"/>
              </a:srgbClr>
            </a:solidFill>
          </p:spPr>
        </p:sp>
        <p:sp>
          <p:nvSpPr>
            <p:cNvPr name="TextBox 16" id="16"/>
            <p:cNvSpPr txBox="true"/>
            <p:nvPr/>
          </p:nvSpPr>
          <p:spPr>
            <a:xfrm>
              <a:off x="0" y="-28575"/>
              <a:ext cx="14999970" cy="765175"/>
            </a:xfrm>
            <a:prstGeom prst="rect">
              <a:avLst/>
            </a:prstGeom>
          </p:spPr>
          <p:txBody>
            <a:bodyPr anchor="ctr" rtlCol="false" tIns="0" lIns="0" bIns="0" rIns="0"/>
            <a:lstStyle/>
            <a:p>
              <a:pPr algn="ctr">
                <a:lnSpc>
                  <a:spcPts val="4320"/>
                </a:lnSpc>
              </a:pPr>
              <a:r>
                <a:rPr lang="en-US" sz="3600">
                  <a:solidFill>
                    <a:srgbClr val="000000"/>
                  </a:solidFill>
                  <a:latin typeface="Arimo"/>
                  <a:ea typeface="Arimo"/>
                  <a:cs typeface="Arimo"/>
                  <a:sym typeface="Arimo"/>
                </a:rPr>
                <a:t>Nhúng biểu mẫu và hoàn thiện web</a:t>
              </a:r>
            </a:p>
          </p:txBody>
        </p:sp>
      </p:grpSp>
      <p:grpSp>
        <p:nvGrpSpPr>
          <p:cNvPr name="Group 17" id="17"/>
          <p:cNvGrpSpPr/>
          <p:nvPr/>
        </p:nvGrpSpPr>
        <p:grpSpPr>
          <a:xfrm rot="0">
            <a:off x="11571446" y="4799171"/>
            <a:ext cx="5927408" cy="3930015"/>
            <a:chOff x="0" y="0"/>
            <a:chExt cx="7903210" cy="5240020"/>
          </a:xfrm>
        </p:grpSpPr>
        <p:sp>
          <p:nvSpPr>
            <p:cNvPr name="Freeform 18" id="18"/>
            <p:cNvSpPr/>
            <p:nvPr/>
          </p:nvSpPr>
          <p:spPr>
            <a:xfrm flipH="false" flipV="false" rot="0">
              <a:off x="28575" y="28575"/>
              <a:ext cx="7846061" cy="5182870"/>
            </a:xfrm>
            <a:custGeom>
              <a:avLst/>
              <a:gdLst/>
              <a:ahLst/>
              <a:cxnLst/>
              <a:rect r="r" b="b" t="t" l="l"/>
              <a:pathLst>
                <a:path h="5182870" w="7846061">
                  <a:moveTo>
                    <a:pt x="0" y="863854"/>
                  </a:moveTo>
                  <a:cubicBezTo>
                    <a:pt x="0" y="386715"/>
                    <a:pt x="388239" y="0"/>
                    <a:pt x="867029" y="0"/>
                  </a:cubicBezTo>
                  <a:lnTo>
                    <a:pt x="6979031" y="0"/>
                  </a:lnTo>
                  <a:cubicBezTo>
                    <a:pt x="7457822" y="0"/>
                    <a:pt x="7846061" y="386715"/>
                    <a:pt x="7846061" y="863854"/>
                  </a:cubicBezTo>
                  <a:lnTo>
                    <a:pt x="7846061" y="4319016"/>
                  </a:lnTo>
                  <a:cubicBezTo>
                    <a:pt x="7846061" y="4796155"/>
                    <a:pt x="7457822" y="5182870"/>
                    <a:pt x="6979031" y="5182870"/>
                  </a:cubicBezTo>
                  <a:lnTo>
                    <a:pt x="867029" y="5182870"/>
                  </a:lnTo>
                  <a:cubicBezTo>
                    <a:pt x="388239" y="5182870"/>
                    <a:pt x="0" y="4796155"/>
                    <a:pt x="0" y="4319016"/>
                  </a:cubicBezTo>
                  <a:close/>
                </a:path>
              </a:pathLst>
            </a:custGeom>
            <a:solidFill>
              <a:srgbClr val="00B0F0"/>
            </a:solidFill>
            <a:ln w="12700">
              <a:solidFill>
                <a:srgbClr val="000000"/>
              </a:solidFill>
            </a:ln>
          </p:spPr>
        </p:sp>
      </p:grpSp>
      <p:grpSp>
        <p:nvGrpSpPr>
          <p:cNvPr name="Group 19" id="19"/>
          <p:cNvGrpSpPr/>
          <p:nvPr/>
        </p:nvGrpSpPr>
        <p:grpSpPr>
          <a:xfrm rot="0">
            <a:off x="11407140" y="4559618"/>
            <a:ext cx="5797868" cy="3915728"/>
            <a:chOff x="0" y="0"/>
            <a:chExt cx="7730490" cy="5220970"/>
          </a:xfrm>
        </p:grpSpPr>
        <p:sp>
          <p:nvSpPr>
            <p:cNvPr name="Freeform 20" id="20"/>
            <p:cNvSpPr/>
            <p:nvPr/>
          </p:nvSpPr>
          <p:spPr>
            <a:xfrm flipH="false" flipV="false" rot="0">
              <a:off x="19050" y="19050"/>
              <a:ext cx="7692390" cy="5182870"/>
            </a:xfrm>
            <a:custGeom>
              <a:avLst/>
              <a:gdLst/>
              <a:ahLst/>
              <a:cxnLst/>
              <a:rect r="r" b="b" t="t" l="l"/>
              <a:pathLst>
                <a:path h="5182870" w="7692390">
                  <a:moveTo>
                    <a:pt x="0" y="777240"/>
                  </a:moveTo>
                  <a:cubicBezTo>
                    <a:pt x="0" y="347980"/>
                    <a:pt x="348742" y="0"/>
                    <a:pt x="779018" y="0"/>
                  </a:cubicBezTo>
                  <a:lnTo>
                    <a:pt x="6913372" y="0"/>
                  </a:lnTo>
                  <a:cubicBezTo>
                    <a:pt x="7343648" y="0"/>
                    <a:pt x="7692390" y="347980"/>
                    <a:pt x="7692390" y="777240"/>
                  </a:cubicBezTo>
                  <a:lnTo>
                    <a:pt x="7692390" y="4405630"/>
                  </a:lnTo>
                  <a:cubicBezTo>
                    <a:pt x="7692390" y="4834890"/>
                    <a:pt x="7343648" y="5182870"/>
                    <a:pt x="6913372" y="5182870"/>
                  </a:cubicBezTo>
                  <a:lnTo>
                    <a:pt x="779018" y="5182870"/>
                  </a:lnTo>
                  <a:cubicBezTo>
                    <a:pt x="348742" y="5182870"/>
                    <a:pt x="0" y="4834890"/>
                    <a:pt x="0" y="4405630"/>
                  </a:cubicBezTo>
                  <a:close/>
                </a:path>
              </a:pathLst>
            </a:custGeom>
            <a:solidFill>
              <a:srgbClr val="FFFFFF"/>
            </a:solidFill>
            <a:ln w="12700">
              <a:solidFill>
                <a:srgbClr val="000000"/>
              </a:solidFill>
            </a:ln>
          </p:spPr>
        </p:sp>
        <p:sp>
          <p:nvSpPr>
            <p:cNvPr name="Freeform 21" id="21"/>
            <p:cNvSpPr/>
            <p:nvPr/>
          </p:nvSpPr>
          <p:spPr>
            <a:xfrm flipH="false" flipV="false" rot="0">
              <a:off x="0" y="0"/>
              <a:ext cx="7730490" cy="5220970"/>
            </a:xfrm>
            <a:custGeom>
              <a:avLst/>
              <a:gdLst/>
              <a:ahLst/>
              <a:cxnLst/>
              <a:rect r="r" b="b" t="t" l="l"/>
              <a:pathLst>
                <a:path h="5220970" w="7730490">
                  <a:moveTo>
                    <a:pt x="0" y="796290"/>
                  </a:moveTo>
                  <a:cubicBezTo>
                    <a:pt x="0" y="356489"/>
                    <a:pt x="357378" y="0"/>
                    <a:pt x="798068" y="0"/>
                  </a:cubicBezTo>
                  <a:lnTo>
                    <a:pt x="6932422" y="0"/>
                  </a:lnTo>
                  <a:lnTo>
                    <a:pt x="6932422" y="19050"/>
                  </a:lnTo>
                  <a:lnTo>
                    <a:pt x="6932422" y="0"/>
                  </a:lnTo>
                  <a:cubicBezTo>
                    <a:pt x="7373112" y="0"/>
                    <a:pt x="7730490" y="356489"/>
                    <a:pt x="7730490" y="796290"/>
                  </a:cubicBezTo>
                  <a:lnTo>
                    <a:pt x="7711440" y="796290"/>
                  </a:lnTo>
                  <a:lnTo>
                    <a:pt x="7730490" y="796290"/>
                  </a:lnTo>
                  <a:lnTo>
                    <a:pt x="7730490" y="4424680"/>
                  </a:lnTo>
                  <a:lnTo>
                    <a:pt x="7711440" y="4424680"/>
                  </a:lnTo>
                  <a:lnTo>
                    <a:pt x="7730490" y="4424680"/>
                  </a:lnTo>
                  <a:cubicBezTo>
                    <a:pt x="7730490" y="4864481"/>
                    <a:pt x="7373112" y="5220970"/>
                    <a:pt x="6932422" y="5220970"/>
                  </a:cubicBezTo>
                  <a:lnTo>
                    <a:pt x="6932422" y="5201920"/>
                  </a:lnTo>
                  <a:lnTo>
                    <a:pt x="6932422" y="5220970"/>
                  </a:lnTo>
                  <a:lnTo>
                    <a:pt x="798068" y="5220970"/>
                  </a:lnTo>
                  <a:lnTo>
                    <a:pt x="798068" y="5201920"/>
                  </a:lnTo>
                  <a:lnTo>
                    <a:pt x="798068" y="5220970"/>
                  </a:lnTo>
                  <a:cubicBezTo>
                    <a:pt x="357378" y="5220970"/>
                    <a:pt x="0" y="4864481"/>
                    <a:pt x="0" y="4424680"/>
                  </a:cubicBezTo>
                  <a:lnTo>
                    <a:pt x="0" y="796290"/>
                  </a:lnTo>
                  <a:lnTo>
                    <a:pt x="19050" y="796290"/>
                  </a:lnTo>
                  <a:lnTo>
                    <a:pt x="0" y="796290"/>
                  </a:lnTo>
                  <a:moveTo>
                    <a:pt x="38100" y="796290"/>
                  </a:moveTo>
                  <a:lnTo>
                    <a:pt x="38100" y="4424680"/>
                  </a:lnTo>
                  <a:lnTo>
                    <a:pt x="19050" y="4424680"/>
                  </a:lnTo>
                  <a:lnTo>
                    <a:pt x="38100" y="4424680"/>
                  </a:lnTo>
                  <a:cubicBezTo>
                    <a:pt x="38100" y="4843399"/>
                    <a:pt x="378333" y="5182870"/>
                    <a:pt x="798068" y="5182870"/>
                  </a:cubicBezTo>
                  <a:lnTo>
                    <a:pt x="6932422" y="5182870"/>
                  </a:lnTo>
                  <a:cubicBezTo>
                    <a:pt x="7352157" y="5182870"/>
                    <a:pt x="7692390" y="4843399"/>
                    <a:pt x="7692390" y="4424680"/>
                  </a:cubicBezTo>
                  <a:lnTo>
                    <a:pt x="7692390" y="796290"/>
                  </a:lnTo>
                  <a:cubicBezTo>
                    <a:pt x="7692390" y="377571"/>
                    <a:pt x="7352157" y="38100"/>
                    <a:pt x="6932422" y="38100"/>
                  </a:cubicBezTo>
                  <a:lnTo>
                    <a:pt x="798068" y="38100"/>
                  </a:lnTo>
                  <a:lnTo>
                    <a:pt x="798068" y="19050"/>
                  </a:lnTo>
                  <a:lnTo>
                    <a:pt x="798068" y="38100"/>
                  </a:lnTo>
                  <a:cubicBezTo>
                    <a:pt x="378333" y="38100"/>
                    <a:pt x="38100" y="377571"/>
                    <a:pt x="38100" y="796290"/>
                  </a:cubicBezTo>
                  <a:close/>
                </a:path>
              </a:pathLst>
            </a:custGeom>
            <a:solidFill>
              <a:srgbClr val="000000"/>
            </a:solidFill>
            <a:ln w="12700">
              <a:solidFill>
                <a:srgbClr val="000000"/>
              </a:solidFill>
            </a:ln>
          </p:spPr>
        </p:sp>
      </p:grpSp>
      <p:grpSp>
        <p:nvGrpSpPr>
          <p:cNvPr name="Group 22" id="22"/>
          <p:cNvGrpSpPr/>
          <p:nvPr/>
        </p:nvGrpSpPr>
        <p:grpSpPr>
          <a:xfrm rot="0">
            <a:off x="4923949" y="4759166"/>
            <a:ext cx="5927408" cy="3930015"/>
            <a:chOff x="0" y="0"/>
            <a:chExt cx="7903210" cy="5240020"/>
          </a:xfrm>
        </p:grpSpPr>
        <p:sp>
          <p:nvSpPr>
            <p:cNvPr name="Freeform 23" id="23"/>
            <p:cNvSpPr/>
            <p:nvPr/>
          </p:nvSpPr>
          <p:spPr>
            <a:xfrm flipH="false" flipV="false" rot="0">
              <a:off x="28575" y="28575"/>
              <a:ext cx="7846061" cy="5182870"/>
            </a:xfrm>
            <a:custGeom>
              <a:avLst/>
              <a:gdLst/>
              <a:ahLst/>
              <a:cxnLst/>
              <a:rect r="r" b="b" t="t" l="l"/>
              <a:pathLst>
                <a:path h="5182870" w="7846061">
                  <a:moveTo>
                    <a:pt x="0" y="863854"/>
                  </a:moveTo>
                  <a:cubicBezTo>
                    <a:pt x="0" y="386715"/>
                    <a:pt x="388239" y="0"/>
                    <a:pt x="867029" y="0"/>
                  </a:cubicBezTo>
                  <a:lnTo>
                    <a:pt x="6979031" y="0"/>
                  </a:lnTo>
                  <a:cubicBezTo>
                    <a:pt x="7457822" y="0"/>
                    <a:pt x="7846061" y="386715"/>
                    <a:pt x="7846061" y="863854"/>
                  </a:cubicBezTo>
                  <a:lnTo>
                    <a:pt x="7846061" y="4319016"/>
                  </a:lnTo>
                  <a:cubicBezTo>
                    <a:pt x="7846061" y="4796155"/>
                    <a:pt x="7457822" y="5182870"/>
                    <a:pt x="6979031" y="5182870"/>
                  </a:cubicBezTo>
                  <a:lnTo>
                    <a:pt x="867029" y="5182870"/>
                  </a:lnTo>
                  <a:cubicBezTo>
                    <a:pt x="388239" y="5182870"/>
                    <a:pt x="0" y="4796155"/>
                    <a:pt x="0" y="4319016"/>
                  </a:cubicBezTo>
                  <a:close/>
                </a:path>
              </a:pathLst>
            </a:custGeom>
            <a:solidFill>
              <a:srgbClr val="00B0F0"/>
            </a:solidFill>
            <a:ln w="12700">
              <a:solidFill>
                <a:srgbClr val="000000"/>
              </a:solidFill>
            </a:ln>
          </p:spPr>
        </p:sp>
      </p:grpSp>
      <p:grpSp>
        <p:nvGrpSpPr>
          <p:cNvPr name="Group 24" id="24"/>
          <p:cNvGrpSpPr/>
          <p:nvPr/>
        </p:nvGrpSpPr>
        <p:grpSpPr>
          <a:xfrm rot="0">
            <a:off x="4759642" y="4519612"/>
            <a:ext cx="5797868" cy="3915728"/>
            <a:chOff x="0" y="0"/>
            <a:chExt cx="7730490" cy="5220970"/>
          </a:xfrm>
        </p:grpSpPr>
        <p:sp>
          <p:nvSpPr>
            <p:cNvPr name="Freeform 25" id="25"/>
            <p:cNvSpPr/>
            <p:nvPr/>
          </p:nvSpPr>
          <p:spPr>
            <a:xfrm flipH="false" flipV="false" rot="0">
              <a:off x="19050" y="19050"/>
              <a:ext cx="7692390" cy="5182870"/>
            </a:xfrm>
            <a:custGeom>
              <a:avLst/>
              <a:gdLst/>
              <a:ahLst/>
              <a:cxnLst/>
              <a:rect r="r" b="b" t="t" l="l"/>
              <a:pathLst>
                <a:path h="5182870" w="7692390">
                  <a:moveTo>
                    <a:pt x="0" y="777240"/>
                  </a:moveTo>
                  <a:cubicBezTo>
                    <a:pt x="0" y="347980"/>
                    <a:pt x="348742" y="0"/>
                    <a:pt x="779018" y="0"/>
                  </a:cubicBezTo>
                  <a:lnTo>
                    <a:pt x="6913372" y="0"/>
                  </a:lnTo>
                  <a:cubicBezTo>
                    <a:pt x="7343648" y="0"/>
                    <a:pt x="7692390" y="347980"/>
                    <a:pt x="7692390" y="777240"/>
                  </a:cubicBezTo>
                  <a:lnTo>
                    <a:pt x="7692390" y="4405630"/>
                  </a:lnTo>
                  <a:cubicBezTo>
                    <a:pt x="7692390" y="4834890"/>
                    <a:pt x="7343648" y="5182870"/>
                    <a:pt x="6913372" y="5182870"/>
                  </a:cubicBezTo>
                  <a:lnTo>
                    <a:pt x="779018" y="5182870"/>
                  </a:lnTo>
                  <a:cubicBezTo>
                    <a:pt x="348742" y="5182870"/>
                    <a:pt x="0" y="4834890"/>
                    <a:pt x="0" y="4405630"/>
                  </a:cubicBezTo>
                  <a:close/>
                </a:path>
              </a:pathLst>
            </a:custGeom>
            <a:solidFill>
              <a:srgbClr val="FFFFFF"/>
            </a:solidFill>
            <a:ln w="12700">
              <a:solidFill>
                <a:srgbClr val="000000"/>
              </a:solidFill>
            </a:ln>
          </p:spPr>
        </p:sp>
        <p:sp>
          <p:nvSpPr>
            <p:cNvPr name="Freeform 26" id="26"/>
            <p:cNvSpPr/>
            <p:nvPr/>
          </p:nvSpPr>
          <p:spPr>
            <a:xfrm flipH="false" flipV="false" rot="0">
              <a:off x="0" y="0"/>
              <a:ext cx="7730490" cy="5220970"/>
            </a:xfrm>
            <a:custGeom>
              <a:avLst/>
              <a:gdLst/>
              <a:ahLst/>
              <a:cxnLst/>
              <a:rect r="r" b="b" t="t" l="l"/>
              <a:pathLst>
                <a:path h="5220970" w="7730490">
                  <a:moveTo>
                    <a:pt x="0" y="796290"/>
                  </a:moveTo>
                  <a:cubicBezTo>
                    <a:pt x="0" y="356489"/>
                    <a:pt x="357378" y="0"/>
                    <a:pt x="798068" y="0"/>
                  </a:cubicBezTo>
                  <a:lnTo>
                    <a:pt x="6932422" y="0"/>
                  </a:lnTo>
                  <a:lnTo>
                    <a:pt x="6932422" y="19050"/>
                  </a:lnTo>
                  <a:lnTo>
                    <a:pt x="6932422" y="0"/>
                  </a:lnTo>
                  <a:cubicBezTo>
                    <a:pt x="7373112" y="0"/>
                    <a:pt x="7730490" y="356489"/>
                    <a:pt x="7730490" y="796290"/>
                  </a:cubicBezTo>
                  <a:lnTo>
                    <a:pt x="7711440" y="796290"/>
                  </a:lnTo>
                  <a:lnTo>
                    <a:pt x="7730490" y="796290"/>
                  </a:lnTo>
                  <a:lnTo>
                    <a:pt x="7730490" y="4424680"/>
                  </a:lnTo>
                  <a:lnTo>
                    <a:pt x="7711440" y="4424680"/>
                  </a:lnTo>
                  <a:lnTo>
                    <a:pt x="7730490" y="4424680"/>
                  </a:lnTo>
                  <a:cubicBezTo>
                    <a:pt x="7730490" y="4864481"/>
                    <a:pt x="7373112" y="5220970"/>
                    <a:pt x="6932422" y="5220970"/>
                  </a:cubicBezTo>
                  <a:lnTo>
                    <a:pt x="6932422" y="5201920"/>
                  </a:lnTo>
                  <a:lnTo>
                    <a:pt x="6932422" y="5220970"/>
                  </a:lnTo>
                  <a:lnTo>
                    <a:pt x="798068" y="5220970"/>
                  </a:lnTo>
                  <a:lnTo>
                    <a:pt x="798068" y="5201920"/>
                  </a:lnTo>
                  <a:lnTo>
                    <a:pt x="798068" y="5220970"/>
                  </a:lnTo>
                  <a:cubicBezTo>
                    <a:pt x="357378" y="5220970"/>
                    <a:pt x="0" y="4864481"/>
                    <a:pt x="0" y="4424680"/>
                  </a:cubicBezTo>
                  <a:lnTo>
                    <a:pt x="0" y="796290"/>
                  </a:lnTo>
                  <a:lnTo>
                    <a:pt x="19050" y="796290"/>
                  </a:lnTo>
                  <a:lnTo>
                    <a:pt x="0" y="796290"/>
                  </a:lnTo>
                  <a:moveTo>
                    <a:pt x="38100" y="796290"/>
                  </a:moveTo>
                  <a:lnTo>
                    <a:pt x="38100" y="4424680"/>
                  </a:lnTo>
                  <a:lnTo>
                    <a:pt x="19050" y="4424680"/>
                  </a:lnTo>
                  <a:lnTo>
                    <a:pt x="38100" y="4424680"/>
                  </a:lnTo>
                  <a:cubicBezTo>
                    <a:pt x="38100" y="4843399"/>
                    <a:pt x="378333" y="5182870"/>
                    <a:pt x="798068" y="5182870"/>
                  </a:cubicBezTo>
                  <a:lnTo>
                    <a:pt x="6932422" y="5182870"/>
                  </a:lnTo>
                  <a:cubicBezTo>
                    <a:pt x="7352157" y="5182870"/>
                    <a:pt x="7692390" y="4843399"/>
                    <a:pt x="7692390" y="4424680"/>
                  </a:cubicBezTo>
                  <a:lnTo>
                    <a:pt x="7692390" y="796290"/>
                  </a:lnTo>
                  <a:cubicBezTo>
                    <a:pt x="7692390" y="377571"/>
                    <a:pt x="7352157" y="38100"/>
                    <a:pt x="6932422" y="38100"/>
                  </a:cubicBezTo>
                  <a:lnTo>
                    <a:pt x="798068" y="38100"/>
                  </a:lnTo>
                  <a:lnTo>
                    <a:pt x="798068" y="19050"/>
                  </a:lnTo>
                  <a:lnTo>
                    <a:pt x="798068" y="38100"/>
                  </a:lnTo>
                  <a:cubicBezTo>
                    <a:pt x="378333" y="38100"/>
                    <a:pt x="38100" y="377571"/>
                    <a:pt x="38100" y="796290"/>
                  </a:cubicBezTo>
                  <a:close/>
                </a:path>
              </a:pathLst>
            </a:custGeom>
            <a:solidFill>
              <a:srgbClr val="000000"/>
            </a:solidFill>
            <a:ln w="12700">
              <a:solidFill>
                <a:srgbClr val="000000"/>
              </a:solidFill>
            </a:ln>
          </p:spPr>
        </p:sp>
      </p:grpSp>
      <p:grpSp>
        <p:nvGrpSpPr>
          <p:cNvPr name="Group 27" id="27"/>
          <p:cNvGrpSpPr/>
          <p:nvPr/>
        </p:nvGrpSpPr>
        <p:grpSpPr>
          <a:xfrm rot="0">
            <a:off x="763429" y="3326606"/>
            <a:ext cx="3137535" cy="4734878"/>
            <a:chOff x="0" y="0"/>
            <a:chExt cx="4183380" cy="6313170"/>
          </a:xfrm>
        </p:grpSpPr>
        <p:sp>
          <p:nvSpPr>
            <p:cNvPr name="Freeform 28" id="28"/>
            <p:cNvSpPr/>
            <p:nvPr/>
          </p:nvSpPr>
          <p:spPr>
            <a:xfrm flipH="false" flipV="false" rot="0">
              <a:off x="0" y="0"/>
              <a:ext cx="4183380" cy="6313170"/>
            </a:xfrm>
            <a:custGeom>
              <a:avLst/>
              <a:gdLst/>
              <a:ahLst/>
              <a:cxnLst/>
              <a:rect r="r" b="b" t="t" l="l"/>
              <a:pathLst>
                <a:path h="6313170" w="4183380">
                  <a:moveTo>
                    <a:pt x="28575" y="0"/>
                  </a:moveTo>
                  <a:lnTo>
                    <a:pt x="4154805" y="0"/>
                  </a:lnTo>
                  <a:cubicBezTo>
                    <a:pt x="4170553" y="0"/>
                    <a:pt x="4183380" y="12827"/>
                    <a:pt x="4183380" y="28575"/>
                  </a:cubicBezTo>
                  <a:lnTo>
                    <a:pt x="4183380" y="6284595"/>
                  </a:lnTo>
                  <a:cubicBezTo>
                    <a:pt x="4183380" y="6300343"/>
                    <a:pt x="4170553" y="6313170"/>
                    <a:pt x="4154805" y="6313170"/>
                  </a:cubicBezTo>
                  <a:lnTo>
                    <a:pt x="28575" y="6313170"/>
                  </a:lnTo>
                  <a:cubicBezTo>
                    <a:pt x="12827" y="6313170"/>
                    <a:pt x="0" y="6300343"/>
                    <a:pt x="0" y="6284595"/>
                  </a:cubicBezTo>
                  <a:lnTo>
                    <a:pt x="0" y="28575"/>
                  </a:lnTo>
                  <a:cubicBezTo>
                    <a:pt x="0" y="12827"/>
                    <a:pt x="12827" y="0"/>
                    <a:pt x="28575" y="0"/>
                  </a:cubicBezTo>
                  <a:moveTo>
                    <a:pt x="28575" y="57150"/>
                  </a:moveTo>
                  <a:lnTo>
                    <a:pt x="28575" y="28575"/>
                  </a:lnTo>
                  <a:lnTo>
                    <a:pt x="57150" y="28575"/>
                  </a:lnTo>
                  <a:lnTo>
                    <a:pt x="57150" y="6284595"/>
                  </a:lnTo>
                  <a:lnTo>
                    <a:pt x="28575" y="6284595"/>
                  </a:lnTo>
                  <a:lnTo>
                    <a:pt x="28575" y="6256020"/>
                  </a:lnTo>
                  <a:lnTo>
                    <a:pt x="4154805" y="6256020"/>
                  </a:lnTo>
                  <a:lnTo>
                    <a:pt x="4154805" y="6284595"/>
                  </a:lnTo>
                  <a:lnTo>
                    <a:pt x="4126230" y="6284595"/>
                  </a:lnTo>
                  <a:lnTo>
                    <a:pt x="4126230" y="28575"/>
                  </a:lnTo>
                  <a:lnTo>
                    <a:pt x="4154805" y="28575"/>
                  </a:lnTo>
                  <a:lnTo>
                    <a:pt x="4154805" y="57150"/>
                  </a:lnTo>
                  <a:lnTo>
                    <a:pt x="28575" y="57150"/>
                  </a:lnTo>
                  <a:close/>
                </a:path>
              </a:pathLst>
            </a:custGeom>
            <a:solidFill>
              <a:srgbClr val="000000"/>
            </a:solidFill>
            <a:ln w="12700">
              <a:solidFill>
                <a:srgbClr val="000000"/>
              </a:solidFill>
            </a:ln>
          </p:spPr>
        </p:sp>
      </p:grpSp>
      <p:grpSp>
        <p:nvGrpSpPr>
          <p:cNvPr name="Group 29" id="29"/>
          <p:cNvGrpSpPr>
            <a:grpSpLocks noChangeAspect="true"/>
          </p:cNvGrpSpPr>
          <p:nvPr/>
        </p:nvGrpSpPr>
        <p:grpSpPr>
          <a:xfrm rot="0">
            <a:off x="612457" y="2590800"/>
            <a:ext cx="3905250" cy="5162550"/>
            <a:chOff x="0" y="0"/>
            <a:chExt cx="5207000" cy="6883400"/>
          </a:xfrm>
        </p:grpSpPr>
        <p:sp>
          <p:nvSpPr>
            <p:cNvPr name="Freeform 30" id="30" descr="https://kimi-img.moonshot.cn/pub/slides/slides_tmpl/image/25-08-27-19:57:42-d2nf5dh8bjvh7rlivt00.png"/>
            <p:cNvSpPr/>
            <p:nvPr/>
          </p:nvSpPr>
          <p:spPr>
            <a:xfrm flipH="false" flipV="false" rot="0">
              <a:off x="0" y="0"/>
              <a:ext cx="5207000" cy="6883400"/>
            </a:xfrm>
            <a:custGeom>
              <a:avLst/>
              <a:gdLst/>
              <a:ahLst/>
              <a:cxnLst/>
              <a:rect r="r" b="b" t="t" l="l"/>
              <a:pathLst>
                <a:path h="6883400" w="5207000">
                  <a:moveTo>
                    <a:pt x="0" y="0"/>
                  </a:moveTo>
                  <a:lnTo>
                    <a:pt x="5207000" y="0"/>
                  </a:lnTo>
                  <a:lnTo>
                    <a:pt x="5207000" y="6883400"/>
                  </a:lnTo>
                  <a:lnTo>
                    <a:pt x="0" y="6883400"/>
                  </a:lnTo>
                  <a:lnTo>
                    <a:pt x="0" y="0"/>
                  </a:lnTo>
                  <a:close/>
                </a:path>
              </a:pathLst>
            </a:custGeom>
            <a:blipFill>
              <a:blip r:embed="rId3"/>
              <a:stretch>
                <a:fillRect l="0" t="0" r="0" b="0"/>
              </a:stretch>
            </a:blipFill>
          </p:spPr>
        </p:sp>
      </p:grpSp>
      <p:grpSp>
        <p:nvGrpSpPr>
          <p:cNvPr name="Group 31" id="31"/>
          <p:cNvGrpSpPr/>
          <p:nvPr/>
        </p:nvGrpSpPr>
        <p:grpSpPr>
          <a:xfrm rot="0">
            <a:off x="4699635" y="1744980"/>
            <a:ext cx="128588" cy="515302"/>
            <a:chOff x="0" y="0"/>
            <a:chExt cx="171450" cy="687070"/>
          </a:xfrm>
        </p:grpSpPr>
        <p:sp>
          <p:nvSpPr>
            <p:cNvPr name="Freeform 32" id="32"/>
            <p:cNvSpPr/>
            <p:nvPr/>
          </p:nvSpPr>
          <p:spPr>
            <a:xfrm flipH="false" flipV="false" rot="0">
              <a:off x="0" y="0"/>
              <a:ext cx="171450" cy="687070"/>
            </a:xfrm>
            <a:custGeom>
              <a:avLst/>
              <a:gdLst/>
              <a:ahLst/>
              <a:cxnLst/>
              <a:rect r="r" b="b" t="t" l="l"/>
              <a:pathLst>
                <a:path h="687070" w="171450">
                  <a:moveTo>
                    <a:pt x="0" y="0"/>
                  </a:moveTo>
                  <a:lnTo>
                    <a:pt x="171450" y="0"/>
                  </a:lnTo>
                  <a:lnTo>
                    <a:pt x="171450" y="687070"/>
                  </a:lnTo>
                  <a:lnTo>
                    <a:pt x="0" y="687070"/>
                  </a:lnTo>
                  <a:close/>
                </a:path>
              </a:pathLst>
            </a:custGeom>
            <a:solidFill>
              <a:srgbClr val="00B0F0"/>
            </a:solidFill>
            <a:ln w="12700">
              <a:solidFill>
                <a:srgbClr val="000000"/>
              </a:solidFill>
            </a:ln>
          </p:spPr>
        </p:sp>
      </p:grpSp>
      <p:sp>
        <p:nvSpPr>
          <p:cNvPr name="TextBox 33" id="33"/>
          <p:cNvSpPr txBox="true"/>
          <p:nvPr/>
        </p:nvSpPr>
        <p:spPr>
          <a:xfrm rot="0">
            <a:off x="4919187" y="1688946"/>
            <a:ext cx="6355080" cy="489585"/>
          </a:xfrm>
          <a:prstGeom prst="rect">
            <a:avLst/>
          </a:prstGeom>
        </p:spPr>
        <p:txBody>
          <a:bodyPr anchor="t" rtlCol="false" tIns="0" lIns="0" bIns="0" rIns="0">
            <a:spAutoFit/>
          </a:bodyPr>
          <a:lstStyle/>
          <a:p>
            <a:pPr algn="l">
              <a:lnSpc>
                <a:spcPts val="4320"/>
              </a:lnSpc>
            </a:pPr>
            <a:r>
              <a:rPr lang="en-US" sz="3600">
                <a:solidFill>
                  <a:srgbClr val="00B0F0"/>
                </a:solidFill>
                <a:latin typeface="Arimo"/>
                <a:ea typeface="Arimo"/>
                <a:cs typeface="Arimo"/>
                <a:sym typeface="Arimo"/>
              </a:rPr>
              <a:t>Thực hiện nhúng biểu mẫu</a:t>
            </a:r>
          </a:p>
        </p:txBody>
      </p:sp>
      <p:sp>
        <p:nvSpPr>
          <p:cNvPr name="TextBox 34" id="34"/>
          <p:cNvSpPr txBox="true"/>
          <p:nvPr/>
        </p:nvSpPr>
        <p:spPr>
          <a:xfrm rot="0">
            <a:off x="4791075" y="2541270"/>
            <a:ext cx="12644438" cy="918972"/>
          </a:xfrm>
          <a:prstGeom prst="rect">
            <a:avLst/>
          </a:prstGeom>
        </p:spPr>
        <p:txBody>
          <a:bodyPr anchor="t" rtlCol="false" tIns="0" lIns="0" bIns="0" rIns="0">
            <a:spAutoFit/>
          </a:bodyPr>
          <a:lstStyle/>
          <a:p>
            <a:pPr algn="just">
              <a:lnSpc>
                <a:spcPts val="3744"/>
              </a:lnSpc>
            </a:pPr>
            <a:r>
              <a:rPr lang="en-US" sz="2400">
                <a:solidFill>
                  <a:srgbClr val="000000"/>
                </a:solidFill>
                <a:latin typeface="Arimo"/>
                <a:ea typeface="Arimo"/>
                <a:cs typeface="Arimo"/>
                <a:sym typeface="Arimo"/>
              </a:rPr>
              <a:t>Thực hiện nhúng biểu mẫu mới vào trang web nhóm, điều chỉnh vị trí và màu nền để hài hòa với giao diện của trang web.</a:t>
            </a:r>
          </a:p>
        </p:txBody>
      </p:sp>
      <p:sp>
        <p:nvSpPr>
          <p:cNvPr name="TextBox 35" id="35"/>
          <p:cNvSpPr txBox="true"/>
          <p:nvPr/>
        </p:nvSpPr>
        <p:spPr>
          <a:xfrm rot="0">
            <a:off x="4940314" y="4810458"/>
            <a:ext cx="5311140" cy="382727"/>
          </a:xfrm>
          <a:prstGeom prst="rect">
            <a:avLst/>
          </a:prstGeom>
        </p:spPr>
        <p:txBody>
          <a:bodyPr anchor="t" rtlCol="false" tIns="0" lIns="0" bIns="0" rIns="0">
            <a:spAutoFit/>
          </a:bodyPr>
          <a:lstStyle/>
          <a:p>
            <a:pPr algn="l">
              <a:lnSpc>
                <a:spcPts val="3600"/>
              </a:lnSpc>
            </a:pPr>
            <a:r>
              <a:rPr lang="en-US" sz="3000">
                <a:solidFill>
                  <a:srgbClr val="000000"/>
                </a:solidFill>
                <a:latin typeface="Arimo"/>
                <a:ea typeface="Arimo"/>
                <a:cs typeface="Arimo"/>
                <a:sym typeface="Arimo"/>
              </a:rPr>
              <a:t>Kiểm tra phản hồi</a:t>
            </a:r>
          </a:p>
        </p:txBody>
      </p:sp>
      <p:sp>
        <p:nvSpPr>
          <p:cNvPr name="TextBox 36" id="36"/>
          <p:cNvSpPr txBox="true"/>
          <p:nvPr/>
        </p:nvSpPr>
        <p:spPr>
          <a:xfrm rot="0">
            <a:off x="4940314" y="5493067"/>
            <a:ext cx="5311140" cy="2028063"/>
          </a:xfrm>
          <a:prstGeom prst="rect">
            <a:avLst/>
          </a:prstGeom>
        </p:spPr>
        <p:txBody>
          <a:bodyPr anchor="t" rtlCol="false" tIns="0" lIns="0" bIns="0" rIns="0">
            <a:spAutoFit/>
          </a:bodyPr>
          <a:lstStyle/>
          <a:p>
            <a:pPr algn="just">
              <a:lnSpc>
                <a:spcPts val="3276"/>
              </a:lnSpc>
            </a:pPr>
            <a:r>
              <a:rPr lang="en-US" sz="2100">
                <a:solidFill>
                  <a:srgbClr val="000000"/>
                </a:solidFill>
                <a:latin typeface="Arimo"/>
                <a:ea typeface="Arimo"/>
                <a:cs typeface="Arimo"/>
                <a:sym typeface="Arimo"/>
              </a:rPr>
              <a:t>Gửi thử 2-3 phản hồi để kiểm tra xem dữ liệu có được ghi nhận trong Google Sheets không. Lưu ý kiểm tra quyền chia sẻ của biểu mẫu để đảm bảo người dùng có thể dễ dàng gửi phản hồi.</a:t>
            </a:r>
          </a:p>
        </p:txBody>
      </p:sp>
      <p:sp>
        <p:nvSpPr>
          <p:cNvPr name="TextBox 37" id="37"/>
          <p:cNvSpPr txBox="true"/>
          <p:nvPr/>
        </p:nvSpPr>
        <p:spPr>
          <a:xfrm rot="0">
            <a:off x="11587812" y="4850463"/>
            <a:ext cx="5311140" cy="382726"/>
          </a:xfrm>
          <a:prstGeom prst="rect">
            <a:avLst/>
          </a:prstGeom>
        </p:spPr>
        <p:txBody>
          <a:bodyPr anchor="t" rtlCol="false" tIns="0" lIns="0" bIns="0" rIns="0">
            <a:spAutoFit/>
          </a:bodyPr>
          <a:lstStyle/>
          <a:p>
            <a:pPr algn="l">
              <a:lnSpc>
                <a:spcPts val="3600"/>
              </a:lnSpc>
            </a:pPr>
            <a:r>
              <a:rPr lang="en-US" sz="3000">
                <a:solidFill>
                  <a:srgbClr val="000000"/>
                </a:solidFill>
                <a:latin typeface="Arimo"/>
                <a:ea typeface="Arimo"/>
                <a:cs typeface="Arimo"/>
                <a:sym typeface="Arimo"/>
              </a:rPr>
              <a:t>Kiểm tra và hoàn thiện</a:t>
            </a:r>
          </a:p>
        </p:txBody>
      </p:sp>
      <p:sp>
        <p:nvSpPr>
          <p:cNvPr name="TextBox 38" id="38"/>
          <p:cNvSpPr txBox="true"/>
          <p:nvPr/>
        </p:nvSpPr>
        <p:spPr>
          <a:xfrm rot="0">
            <a:off x="11587812" y="5533072"/>
            <a:ext cx="5311140" cy="1618488"/>
          </a:xfrm>
          <a:prstGeom prst="rect">
            <a:avLst/>
          </a:prstGeom>
        </p:spPr>
        <p:txBody>
          <a:bodyPr anchor="t" rtlCol="false" tIns="0" lIns="0" bIns="0" rIns="0">
            <a:spAutoFit/>
          </a:bodyPr>
          <a:lstStyle/>
          <a:p>
            <a:pPr algn="just">
              <a:lnSpc>
                <a:spcPts val="3276"/>
              </a:lnSpc>
            </a:pPr>
            <a:r>
              <a:rPr lang="en-US" sz="2100">
                <a:solidFill>
                  <a:srgbClr val="000000"/>
                </a:solidFill>
                <a:latin typeface="Arimo"/>
                <a:ea typeface="Arimo"/>
                <a:cs typeface="Arimo"/>
                <a:sym typeface="Arimo"/>
              </a:rPr>
              <a:t>Kiểm tra lại toàn bộ trang web để đảm bảo biểu mẫu hiển thị đúng và hoạt động bình thường. Hoàn thiện trang web trước khi chuyển sang phần tiếp theo của bài học.</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1080"/>
            <a:chOff x="0" y="0"/>
            <a:chExt cx="24384000" cy="1361440"/>
          </a:xfrm>
        </p:grpSpPr>
        <p:sp>
          <p:nvSpPr>
            <p:cNvPr name="Freeform 3" id="3"/>
            <p:cNvSpPr/>
            <p:nvPr/>
          </p:nvSpPr>
          <p:spPr>
            <a:xfrm flipH="false" flipV="false" rot="0">
              <a:off x="0" y="0"/>
              <a:ext cx="24384000" cy="1361440"/>
            </a:xfrm>
            <a:custGeom>
              <a:avLst/>
              <a:gdLst/>
              <a:ahLst/>
              <a:cxnLst/>
              <a:rect r="r" b="b" t="t" l="l"/>
              <a:pathLst>
                <a:path h="1361440" w="24384000">
                  <a:moveTo>
                    <a:pt x="0" y="0"/>
                  </a:moveTo>
                  <a:lnTo>
                    <a:pt x="24384000" y="0"/>
                  </a:lnTo>
                  <a:lnTo>
                    <a:pt x="24384000" y="1361440"/>
                  </a:lnTo>
                  <a:lnTo>
                    <a:pt x="0" y="1361440"/>
                  </a:lnTo>
                  <a:close/>
                </a:path>
              </a:pathLst>
            </a:custGeom>
            <a:solidFill>
              <a:srgbClr val="00B0F0"/>
            </a:solidFill>
            <a:ln w="12700">
              <a:solidFill>
                <a:srgbClr val="000000"/>
              </a:solidFill>
            </a:ln>
          </p:spPr>
        </p:sp>
      </p:grpSp>
      <p:grpSp>
        <p:nvGrpSpPr>
          <p:cNvPr name="Group 4" id="4"/>
          <p:cNvGrpSpPr/>
          <p:nvPr/>
        </p:nvGrpSpPr>
        <p:grpSpPr>
          <a:xfrm rot="0">
            <a:off x="3330892" y="194310"/>
            <a:ext cx="11596688" cy="671512"/>
            <a:chOff x="0" y="0"/>
            <a:chExt cx="15462250" cy="895350"/>
          </a:xfrm>
        </p:grpSpPr>
        <p:sp>
          <p:nvSpPr>
            <p:cNvPr name="Freeform 5" id="5"/>
            <p:cNvSpPr/>
            <p:nvPr/>
          </p:nvSpPr>
          <p:spPr>
            <a:xfrm flipH="false" flipV="false" rot="0">
              <a:off x="0" y="0"/>
              <a:ext cx="15462250" cy="895350"/>
            </a:xfrm>
            <a:custGeom>
              <a:avLst/>
              <a:gdLst/>
              <a:ahLst/>
              <a:cxnLst/>
              <a:rect r="r" b="b" t="t" l="l"/>
              <a:pathLst>
                <a:path h="895350" w="15462250">
                  <a:moveTo>
                    <a:pt x="0" y="447675"/>
                  </a:moveTo>
                  <a:cubicBezTo>
                    <a:pt x="0" y="200406"/>
                    <a:pt x="200406" y="0"/>
                    <a:pt x="447675" y="0"/>
                  </a:cubicBezTo>
                  <a:lnTo>
                    <a:pt x="15014575" y="0"/>
                  </a:lnTo>
                  <a:cubicBezTo>
                    <a:pt x="15261844" y="0"/>
                    <a:pt x="15462250" y="200406"/>
                    <a:pt x="15462250" y="447675"/>
                  </a:cubicBezTo>
                  <a:cubicBezTo>
                    <a:pt x="15462250" y="694944"/>
                    <a:pt x="15261844" y="895350"/>
                    <a:pt x="15014575" y="895350"/>
                  </a:cubicBezTo>
                  <a:lnTo>
                    <a:pt x="447675" y="895350"/>
                  </a:lnTo>
                  <a:cubicBezTo>
                    <a:pt x="200406" y="895350"/>
                    <a:pt x="0" y="694944"/>
                    <a:pt x="0" y="447675"/>
                  </a:cubicBezTo>
                  <a:close/>
                </a:path>
              </a:pathLst>
            </a:custGeom>
            <a:solidFill>
              <a:srgbClr val="FFFFFF"/>
            </a:solidFill>
            <a:ln w="12700">
              <a:solidFill>
                <a:srgbClr val="000000"/>
              </a:solidFill>
            </a:ln>
          </p:spPr>
        </p:sp>
      </p:grpSp>
      <p:grpSp>
        <p:nvGrpSpPr>
          <p:cNvPr name="Group 6" id="6"/>
          <p:cNvGrpSpPr/>
          <p:nvPr/>
        </p:nvGrpSpPr>
        <p:grpSpPr>
          <a:xfrm rot="0">
            <a:off x="17282160" y="274470"/>
            <a:ext cx="597218" cy="57150"/>
            <a:chOff x="0" y="0"/>
            <a:chExt cx="796290" cy="76200"/>
          </a:xfrm>
        </p:grpSpPr>
        <p:sp>
          <p:nvSpPr>
            <p:cNvPr name="Freeform 7" id="7"/>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8" id="8"/>
          <p:cNvGrpSpPr/>
          <p:nvPr/>
        </p:nvGrpSpPr>
        <p:grpSpPr>
          <a:xfrm rot="0">
            <a:off x="17282160" y="482115"/>
            <a:ext cx="597218" cy="57150"/>
            <a:chOff x="0" y="0"/>
            <a:chExt cx="796290" cy="76200"/>
          </a:xfrm>
        </p:grpSpPr>
        <p:sp>
          <p:nvSpPr>
            <p:cNvPr name="Freeform 9" id="9"/>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0" id="10"/>
          <p:cNvGrpSpPr/>
          <p:nvPr/>
        </p:nvGrpSpPr>
        <p:grpSpPr>
          <a:xfrm rot="0">
            <a:off x="17282160" y="689760"/>
            <a:ext cx="597218" cy="57150"/>
            <a:chOff x="0" y="0"/>
            <a:chExt cx="796290" cy="76200"/>
          </a:xfrm>
        </p:grpSpPr>
        <p:sp>
          <p:nvSpPr>
            <p:cNvPr name="Freeform 11" id="11"/>
            <p:cNvSpPr/>
            <p:nvPr/>
          </p:nvSpPr>
          <p:spPr>
            <a:xfrm flipH="false" flipV="false" rot="0">
              <a:off x="38100" y="0"/>
              <a:ext cx="720090" cy="76200"/>
            </a:xfrm>
            <a:custGeom>
              <a:avLst/>
              <a:gdLst/>
              <a:ahLst/>
              <a:cxnLst/>
              <a:rect r="r" b="b" t="t" l="l"/>
              <a:pathLst>
                <a:path h="76200" w="720090">
                  <a:moveTo>
                    <a:pt x="0" y="0"/>
                  </a:moveTo>
                  <a:lnTo>
                    <a:pt x="720090" y="0"/>
                  </a:lnTo>
                  <a:lnTo>
                    <a:pt x="720090" y="76200"/>
                  </a:lnTo>
                  <a:lnTo>
                    <a:pt x="0" y="76200"/>
                  </a:lnTo>
                  <a:close/>
                </a:path>
              </a:pathLst>
            </a:custGeom>
            <a:solidFill>
              <a:srgbClr val="FFFFFF"/>
            </a:solidFill>
            <a:ln w="12700">
              <a:solidFill>
                <a:srgbClr val="000000"/>
              </a:solidFill>
            </a:ln>
          </p:spPr>
        </p:sp>
      </p:grpSp>
      <p:grpSp>
        <p:nvGrpSpPr>
          <p:cNvPr name="Group 12" id="12"/>
          <p:cNvGrpSpPr/>
          <p:nvPr/>
        </p:nvGrpSpPr>
        <p:grpSpPr>
          <a:xfrm rot="0">
            <a:off x="360045" y="232410"/>
            <a:ext cx="483870" cy="485775"/>
            <a:chOff x="0" y="0"/>
            <a:chExt cx="645160" cy="647700"/>
          </a:xfrm>
        </p:grpSpPr>
        <p:sp>
          <p:nvSpPr>
            <p:cNvPr name="Freeform 13" id="13"/>
            <p:cNvSpPr/>
            <p:nvPr/>
          </p:nvSpPr>
          <p:spPr>
            <a:xfrm flipH="false" flipV="false" rot="0">
              <a:off x="0" y="0"/>
              <a:ext cx="645160" cy="647700"/>
            </a:xfrm>
            <a:custGeom>
              <a:avLst/>
              <a:gdLst/>
              <a:ahLst/>
              <a:cxnLst/>
              <a:rect r="r" b="b" t="t" l="l"/>
              <a:pathLst>
                <a:path h="647700" w="645160">
                  <a:moveTo>
                    <a:pt x="645160" y="0"/>
                  </a:moveTo>
                  <a:lnTo>
                    <a:pt x="445643" y="0"/>
                  </a:lnTo>
                  <a:lnTo>
                    <a:pt x="0" y="323850"/>
                  </a:lnTo>
                  <a:lnTo>
                    <a:pt x="445643" y="647700"/>
                  </a:lnTo>
                  <a:lnTo>
                    <a:pt x="645160" y="647700"/>
                  </a:lnTo>
                  <a:lnTo>
                    <a:pt x="199517" y="323850"/>
                  </a:lnTo>
                  <a:close/>
                </a:path>
              </a:pathLst>
            </a:custGeom>
            <a:solidFill>
              <a:srgbClr val="FFFFFF"/>
            </a:solidFill>
            <a:ln w="12700">
              <a:solidFill>
                <a:srgbClr val="000000"/>
              </a:solidFill>
            </a:ln>
          </p:spPr>
        </p:sp>
      </p:grpSp>
      <p:grpSp>
        <p:nvGrpSpPr>
          <p:cNvPr name="Group 14" id="14"/>
          <p:cNvGrpSpPr/>
          <p:nvPr/>
        </p:nvGrpSpPr>
        <p:grpSpPr>
          <a:xfrm rot="0">
            <a:off x="3384233" y="213360"/>
            <a:ext cx="11249978" cy="552450"/>
            <a:chOff x="0" y="0"/>
            <a:chExt cx="14999970" cy="736600"/>
          </a:xfrm>
        </p:grpSpPr>
        <p:sp>
          <p:nvSpPr>
            <p:cNvPr name="Freeform 15" id="15"/>
            <p:cNvSpPr/>
            <p:nvPr/>
          </p:nvSpPr>
          <p:spPr>
            <a:xfrm flipH="false" flipV="false" rot="0">
              <a:off x="0" y="0"/>
              <a:ext cx="14999970" cy="736600"/>
            </a:xfrm>
            <a:custGeom>
              <a:avLst/>
              <a:gdLst/>
              <a:ahLst/>
              <a:cxnLst/>
              <a:rect r="r" b="b" t="t" l="l"/>
              <a:pathLst>
                <a:path h="736600" w="14999970">
                  <a:moveTo>
                    <a:pt x="0" y="0"/>
                  </a:moveTo>
                  <a:lnTo>
                    <a:pt x="14999970" y="0"/>
                  </a:lnTo>
                  <a:lnTo>
                    <a:pt x="14999970" y="736600"/>
                  </a:lnTo>
                  <a:lnTo>
                    <a:pt x="0" y="736600"/>
                  </a:lnTo>
                  <a:close/>
                </a:path>
              </a:pathLst>
            </a:custGeom>
            <a:solidFill>
              <a:srgbClr val="000000">
                <a:alpha val="0"/>
              </a:srgbClr>
            </a:solidFill>
          </p:spPr>
        </p:sp>
        <p:sp>
          <p:nvSpPr>
            <p:cNvPr name="TextBox 16" id="16"/>
            <p:cNvSpPr txBox="true"/>
            <p:nvPr/>
          </p:nvSpPr>
          <p:spPr>
            <a:xfrm>
              <a:off x="0" y="-28575"/>
              <a:ext cx="14999970" cy="765175"/>
            </a:xfrm>
            <a:prstGeom prst="rect">
              <a:avLst/>
            </a:prstGeom>
          </p:spPr>
          <p:txBody>
            <a:bodyPr anchor="ctr" rtlCol="false" tIns="0" lIns="0" bIns="0" rIns="0"/>
            <a:lstStyle/>
            <a:p>
              <a:pPr algn="ctr">
                <a:lnSpc>
                  <a:spcPts val="4320"/>
                </a:lnSpc>
              </a:pPr>
              <a:r>
                <a:rPr lang="en-US" sz="3600">
                  <a:solidFill>
                    <a:srgbClr val="000000"/>
                  </a:solidFill>
                  <a:latin typeface="Arimo"/>
                  <a:ea typeface="Arimo"/>
                  <a:cs typeface="Arimo"/>
                  <a:sym typeface="Arimo"/>
                </a:rPr>
                <a:t>Tổng kết &amp; Nhiệm vụ về nhà</a:t>
              </a:r>
            </a:p>
          </p:txBody>
        </p:sp>
      </p:grpSp>
      <p:grpSp>
        <p:nvGrpSpPr>
          <p:cNvPr name="Group 17" id="17"/>
          <p:cNvGrpSpPr/>
          <p:nvPr/>
        </p:nvGrpSpPr>
        <p:grpSpPr>
          <a:xfrm rot="0">
            <a:off x="643414" y="1641634"/>
            <a:ext cx="16325055" cy="7616666"/>
            <a:chOff x="0" y="0"/>
            <a:chExt cx="22971760" cy="10717773"/>
          </a:xfrm>
        </p:grpSpPr>
        <p:sp>
          <p:nvSpPr>
            <p:cNvPr name="Freeform 18" id="18"/>
            <p:cNvSpPr/>
            <p:nvPr/>
          </p:nvSpPr>
          <p:spPr>
            <a:xfrm flipH="false" flipV="false" rot="0">
              <a:off x="0" y="0"/>
              <a:ext cx="22971761" cy="10717773"/>
            </a:xfrm>
            <a:custGeom>
              <a:avLst/>
              <a:gdLst/>
              <a:ahLst/>
              <a:cxnLst/>
              <a:rect r="r" b="b" t="t" l="l"/>
              <a:pathLst>
                <a:path h="10717773" w="22971761">
                  <a:moveTo>
                    <a:pt x="0" y="707331"/>
                  </a:moveTo>
                  <a:cubicBezTo>
                    <a:pt x="0" y="316130"/>
                    <a:pt x="156210" y="0"/>
                    <a:pt x="348488" y="0"/>
                  </a:cubicBezTo>
                  <a:lnTo>
                    <a:pt x="22623272" y="0"/>
                  </a:lnTo>
                  <a:lnTo>
                    <a:pt x="22623272" y="58446"/>
                  </a:lnTo>
                  <a:lnTo>
                    <a:pt x="22623272" y="0"/>
                  </a:lnTo>
                  <a:cubicBezTo>
                    <a:pt x="22815550" y="0"/>
                    <a:pt x="22971761" y="316130"/>
                    <a:pt x="22971761" y="707331"/>
                  </a:cubicBezTo>
                  <a:lnTo>
                    <a:pt x="22943186" y="707331"/>
                  </a:lnTo>
                  <a:lnTo>
                    <a:pt x="22971761" y="707331"/>
                  </a:lnTo>
                  <a:lnTo>
                    <a:pt x="22971761" y="10010441"/>
                  </a:lnTo>
                  <a:lnTo>
                    <a:pt x="22943186" y="10010441"/>
                  </a:lnTo>
                  <a:lnTo>
                    <a:pt x="22971761" y="10010441"/>
                  </a:lnTo>
                  <a:cubicBezTo>
                    <a:pt x="22971761" y="10401382"/>
                    <a:pt x="22815550" y="10717773"/>
                    <a:pt x="22623272" y="10717773"/>
                  </a:cubicBezTo>
                  <a:lnTo>
                    <a:pt x="22623272" y="10659327"/>
                  </a:lnTo>
                  <a:lnTo>
                    <a:pt x="22623272" y="10717773"/>
                  </a:lnTo>
                  <a:lnTo>
                    <a:pt x="348488" y="10717773"/>
                  </a:lnTo>
                  <a:lnTo>
                    <a:pt x="348488" y="10659327"/>
                  </a:lnTo>
                  <a:lnTo>
                    <a:pt x="348488" y="10717773"/>
                  </a:lnTo>
                  <a:cubicBezTo>
                    <a:pt x="156210" y="10717773"/>
                    <a:pt x="0" y="10401643"/>
                    <a:pt x="0" y="10010441"/>
                  </a:cubicBezTo>
                  <a:lnTo>
                    <a:pt x="0" y="707331"/>
                  </a:lnTo>
                  <a:lnTo>
                    <a:pt x="28575" y="707331"/>
                  </a:lnTo>
                  <a:lnTo>
                    <a:pt x="0" y="707331"/>
                  </a:lnTo>
                  <a:moveTo>
                    <a:pt x="57150" y="707331"/>
                  </a:moveTo>
                  <a:lnTo>
                    <a:pt x="57150" y="10010441"/>
                  </a:lnTo>
                  <a:lnTo>
                    <a:pt x="28575" y="10010441"/>
                  </a:lnTo>
                  <a:lnTo>
                    <a:pt x="57150" y="10010441"/>
                  </a:lnTo>
                  <a:cubicBezTo>
                    <a:pt x="57150" y="10335923"/>
                    <a:pt x="187325" y="10600880"/>
                    <a:pt x="348488" y="10600880"/>
                  </a:cubicBezTo>
                  <a:lnTo>
                    <a:pt x="22623272" y="10600880"/>
                  </a:lnTo>
                  <a:cubicBezTo>
                    <a:pt x="22784436" y="10600880"/>
                    <a:pt x="22914611" y="10336183"/>
                    <a:pt x="22914611" y="10010441"/>
                  </a:cubicBezTo>
                  <a:lnTo>
                    <a:pt x="22914611" y="707331"/>
                  </a:lnTo>
                  <a:cubicBezTo>
                    <a:pt x="22914611" y="381850"/>
                    <a:pt x="22784436" y="116893"/>
                    <a:pt x="22623272" y="116893"/>
                  </a:cubicBezTo>
                  <a:lnTo>
                    <a:pt x="348488" y="116893"/>
                  </a:lnTo>
                  <a:lnTo>
                    <a:pt x="348488" y="58446"/>
                  </a:lnTo>
                  <a:lnTo>
                    <a:pt x="348488" y="116893"/>
                  </a:lnTo>
                  <a:cubicBezTo>
                    <a:pt x="187325" y="116893"/>
                    <a:pt x="57150" y="381590"/>
                    <a:pt x="57150" y="707331"/>
                  </a:cubicBezTo>
                  <a:close/>
                </a:path>
              </a:pathLst>
            </a:custGeom>
            <a:solidFill>
              <a:srgbClr val="00B0F0"/>
            </a:solidFill>
            <a:ln w="12700">
              <a:solidFill>
                <a:srgbClr val="000000"/>
              </a:solidFill>
            </a:ln>
          </p:spPr>
        </p:sp>
      </p:grpSp>
      <p:grpSp>
        <p:nvGrpSpPr>
          <p:cNvPr name="Group 19" id="19"/>
          <p:cNvGrpSpPr>
            <a:grpSpLocks noChangeAspect="true"/>
          </p:cNvGrpSpPr>
          <p:nvPr/>
        </p:nvGrpSpPr>
        <p:grpSpPr>
          <a:xfrm rot="0">
            <a:off x="6297345" y="2553645"/>
            <a:ext cx="4639933" cy="2412476"/>
            <a:chOff x="0" y="0"/>
            <a:chExt cx="6529070" cy="3394710"/>
          </a:xfrm>
        </p:grpSpPr>
        <p:sp>
          <p:nvSpPr>
            <p:cNvPr name="Freeform 20" id="20" descr="https://kimi-img.moonshot.cn/pub/slides/slides_tmpl/image/25-08-27-19:57:42-d2nf5dh8bjvh7rlivsqg.png"/>
            <p:cNvSpPr/>
            <p:nvPr/>
          </p:nvSpPr>
          <p:spPr>
            <a:xfrm flipH="false" flipV="false" rot="0">
              <a:off x="0" y="0"/>
              <a:ext cx="6529070" cy="3394710"/>
            </a:xfrm>
            <a:custGeom>
              <a:avLst/>
              <a:gdLst/>
              <a:ahLst/>
              <a:cxnLst/>
              <a:rect r="r" b="b" t="t" l="l"/>
              <a:pathLst>
                <a:path h="3394710" w="6529070">
                  <a:moveTo>
                    <a:pt x="0" y="0"/>
                  </a:moveTo>
                  <a:lnTo>
                    <a:pt x="6529070" y="0"/>
                  </a:lnTo>
                  <a:lnTo>
                    <a:pt x="6529070" y="3394710"/>
                  </a:lnTo>
                  <a:lnTo>
                    <a:pt x="0" y="3394710"/>
                  </a:lnTo>
                  <a:lnTo>
                    <a:pt x="0" y="0"/>
                  </a:lnTo>
                  <a:close/>
                </a:path>
              </a:pathLst>
            </a:custGeom>
            <a:blipFill>
              <a:blip r:embed="rId3"/>
              <a:stretch>
                <a:fillRect l="-19" t="0" r="-19" b="0"/>
              </a:stretch>
            </a:blipFill>
          </p:spPr>
        </p:sp>
      </p:grpSp>
      <p:grpSp>
        <p:nvGrpSpPr>
          <p:cNvPr name="Group 21" id="21"/>
          <p:cNvGrpSpPr/>
          <p:nvPr/>
        </p:nvGrpSpPr>
        <p:grpSpPr>
          <a:xfrm rot="0">
            <a:off x="761195" y="1941727"/>
            <a:ext cx="5354741" cy="654338"/>
            <a:chOff x="0" y="0"/>
            <a:chExt cx="7534910" cy="920750"/>
          </a:xfrm>
        </p:grpSpPr>
        <p:sp>
          <p:nvSpPr>
            <p:cNvPr name="Freeform 22" id="22"/>
            <p:cNvSpPr/>
            <p:nvPr/>
          </p:nvSpPr>
          <p:spPr>
            <a:xfrm flipH="false" flipV="false" rot="0">
              <a:off x="0" y="0"/>
              <a:ext cx="7534910" cy="920750"/>
            </a:xfrm>
            <a:custGeom>
              <a:avLst/>
              <a:gdLst/>
              <a:ahLst/>
              <a:cxnLst/>
              <a:rect r="r" b="b" t="t" l="l"/>
              <a:pathLst>
                <a:path h="920750" w="7534910">
                  <a:moveTo>
                    <a:pt x="0" y="417449"/>
                  </a:moveTo>
                  <a:cubicBezTo>
                    <a:pt x="0" y="186944"/>
                    <a:pt x="186944" y="0"/>
                    <a:pt x="417449" y="0"/>
                  </a:cubicBezTo>
                  <a:lnTo>
                    <a:pt x="7117461" y="0"/>
                  </a:lnTo>
                  <a:cubicBezTo>
                    <a:pt x="7347966" y="0"/>
                    <a:pt x="7534910" y="186944"/>
                    <a:pt x="7534910" y="417449"/>
                  </a:cubicBezTo>
                  <a:lnTo>
                    <a:pt x="7534910" y="503301"/>
                  </a:lnTo>
                  <a:cubicBezTo>
                    <a:pt x="7534910" y="733806"/>
                    <a:pt x="7347966" y="920750"/>
                    <a:pt x="7117461" y="920750"/>
                  </a:cubicBezTo>
                  <a:lnTo>
                    <a:pt x="417449" y="920750"/>
                  </a:lnTo>
                  <a:cubicBezTo>
                    <a:pt x="186944" y="920750"/>
                    <a:pt x="0" y="733806"/>
                    <a:pt x="0" y="503301"/>
                  </a:cubicBezTo>
                  <a:close/>
                </a:path>
              </a:pathLst>
            </a:custGeom>
            <a:solidFill>
              <a:srgbClr val="00B0F0"/>
            </a:solidFill>
            <a:ln w="12700">
              <a:solidFill>
                <a:srgbClr val="000000"/>
              </a:solidFill>
            </a:ln>
          </p:spPr>
        </p:sp>
      </p:grpSp>
      <p:grpSp>
        <p:nvGrpSpPr>
          <p:cNvPr name="Group 23" id="23"/>
          <p:cNvGrpSpPr/>
          <p:nvPr/>
        </p:nvGrpSpPr>
        <p:grpSpPr>
          <a:xfrm rot="0">
            <a:off x="11171937" y="1941727"/>
            <a:ext cx="5354741" cy="654338"/>
            <a:chOff x="0" y="0"/>
            <a:chExt cx="7534910" cy="920750"/>
          </a:xfrm>
        </p:grpSpPr>
        <p:sp>
          <p:nvSpPr>
            <p:cNvPr name="Freeform 24" id="24"/>
            <p:cNvSpPr/>
            <p:nvPr/>
          </p:nvSpPr>
          <p:spPr>
            <a:xfrm flipH="false" flipV="false" rot="0">
              <a:off x="0" y="0"/>
              <a:ext cx="7534910" cy="920750"/>
            </a:xfrm>
            <a:custGeom>
              <a:avLst/>
              <a:gdLst/>
              <a:ahLst/>
              <a:cxnLst/>
              <a:rect r="r" b="b" t="t" l="l"/>
              <a:pathLst>
                <a:path h="920750" w="7534910">
                  <a:moveTo>
                    <a:pt x="0" y="417449"/>
                  </a:moveTo>
                  <a:cubicBezTo>
                    <a:pt x="0" y="186944"/>
                    <a:pt x="186944" y="0"/>
                    <a:pt x="417449" y="0"/>
                  </a:cubicBezTo>
                  <a:lnTo>
                    <a:pt x="7117461" y="0"/>
                  </a:lnTo>
                  <a:cubicBezTo>
                    <a:pt x="7347966" y="0"/>
                    <a:pt x="7534910" y="186944"/>
                    <a:pt x="7534910" y="417449"/>
                  </a:cubicBezTo>
                  <a:lnTo>
                    <a:pt x="7534910" y="503301"/>
                  </a:lnTo>
                  <a:cubicBezTo>
                    <a:pt x="7534910" y="733806"/>
                    <a:pt x="7347966" y="920750"/>
                    <a:pt x="7117461" y="920750"/>
                  </a:cubicBezTo>
                  <a:lnTo>
                    <a:pt x="417449" y="920750"/>
                  </a:lnTo>
                  <a:cubicBezTo>
                    <a:pt x="186944" y="920750"/>
                    <a:pt x="0" y="733806"/>
                    <a:pt x="0" y="503301"/>
                  </a:cubicBezTo>
                  <a:close/>
                </a:path>
              </a:pathLst>
            </a:custGeom>
            <a:solidFill>
              <a:srgbClr val="00B0F0"/>
            </a:solidFill>
            <a:ln w="12700">
              <a:solidFill>
                <a:srgbClr val="000000"/>
              </a:solidFill>
            </a:ln>
          </p:spPr>
        </p:sp>
      </p:grpSp>
      <p:sp>
        <p:nvSpPr>
          <p:cNvPr name="TextBox 25" id="25"/>
          <p:cNvSpPr txBox="true"/>
          <p:nvPr/>
        </p:nvSpPr>
        <p:spPr>
          <a:xfrm rot="0">
            <a:off x="943507" y="2052797"/>
            <a:ext cx="5032536" cy="363649"/>
          </a:xfrm>
          <a:prstGeom prst="rect">
            <a:avLst/>
          </a:prstGeom>
        </p:spPr>
        <p:txBody>
          <a:bodyPr anchor="t" rtlCol="false" tIns="0" lIns="0" bIns="0" rIns="0">
            <a:spAutoFit/>
          </a:bodyPr>
          <a:lstStyle/>
          <a:p>
            <a:pPr algn="ctr">
              <a:lnSpc>
                <a:spcPts val="3411"/>
              </a:lnSpc>
            </a:pPr>
            <a:r>
              <a:rPr lang="en-US" sz="2842">
                <a:solidFill>
                  <a:srgbClr val="FFFFFF"/>
                </a:solidFill>
                <a:latin typeface="Arimo"/>
                <a:ea typeface="Arimo"/>
                <a:cs typeface="Arimo"/>
                <a:sym typeface="Arimo"/>
              </a:rPr>
              <a:t>Ôn lại kiến thức</a:t>
            </a:r>
          </a:p>
        </p:txBody>
      </p:sp>
      <p:sp>
        <p:nvSpPr>
          <p:cNvPr name="TextBox 26" id="26"/>
          <p:cNvSpPr txBox="true"/>
          <p:nvPr/>
        </p:nvSpPr>
        <p:spPr>
          <a:xfrm rot="0">
            <a:off x="847838" y="2775798"/>
            <a:ext cx="5292466" cy="4216908"/>
          </a:xfrm>
          <a:prstGeom prst="rect">
            <a:avLst/>
          </a:prstGeom>
        </p:spPr>
        <p:txBody>
          <a:bodyPr anchor="t" rtlCol="false" tIns="0" lIns="0" bIns="0" rIns="0">
            <a:spAutoFit/>
          </a:bodyPr>
          <a:lstStyle/>
          <a:p>
            <a:pPr algn="just">
              <a:lnSpc>
                <a:spcPts val="5616"/>
              </a:lnSpc>
            </a:pPr>
            <a:r>
              <a:rPr lang="en-US" sz="3600">
                <a:solidFill>
                  <a:srgbClr val="000000"/>
                </a:solidFill>
                <a:latin typeface="Arimo"/>
                <a:ea typeface="Arimo"/>
                <a:cs typeface="Arimo"/>
                <a:sym typeface="Arimo"/>
              </a:rPr>
              <a:t>Ôn lại kiến thức đã học: nhúng Google Forms vào website, xem phản hồi, phân tích Google Sheets, và các tiêu chí của một biểu mẫu hiệu quả.</a:t>
            </a:r>
          </a:p>
        </p:txBody>
      </p:sp>
      <p:sp>
        <p:nvSpPr>
          <p:cNvPr name="TextBox 27" id="27"/>
          <p:cNvSpPr txBox="true"/>
          <p:nvPr/>
        </p:nvSpPr>
        <p:spPr>
          <a:xfrm rot="0">
            <a:off x="11354249" y="2052797"/>
            <a:ext cx="5032536" cy="363649"/>
          </a:xfrm>
          <a:prstGeom prst="rect">
            <a:avLst/>
          </a:prstGeom>
        </p:spPr>
        <p:txBody>
          <a:bodyPr anchor="t" rtlCol="false" tIns="0" lIns="0" bIns="0" rIns="0">
            <a:spAutoFit/>
          </a:bodyPr>
          <a:lstStyle/>
          <a:p>
            <a:pPr algn="ctr">
              <a:lnSpc>
                <a:spcPts val="3411"/>
              </a:lnSpc>
            </a:pPr>
            <a:r>
              <a:rPr lang="en-US" sz="2842">
                <a:solidFill>
                  <a:srgbClr val="FFFFFF"/>
                </a:solidFill>
                <a:latin typeface="Arimo"/>
                <a:ea typeface="Arimo"/>
                <a:cs typeface="Arimo"/>
                <a:sym typeface="Arimo"/>
              </a:rPr>
              <a:t>Nhiệm vụ về nhà</a:t>
            </a:r>
          </a:p>
        </p:txBody>
      </p:sp>
      <p:sp>
        <p:nvSpPr>
          <p:cNvPr name="TextBox 28" id="28"/>
          <p:cNvSpPr txBox="true"/>
          <p:nvPr/>
        </p:nvSpPr>
        <p:spPr>
          <a:xfrm rot="0">
            <a:off x="11258580" y="2775798"/>
            <a:ext cx="5292466" cy="2807208"/>
          </a:xfrm>
          <a:prstGeom prst="rect">
            <a:avLst/>
          </a:prstGeom>
        </p:spPr>
        <p:txBody>
          <a:bodyPr anchor="t" rtlCol="false" tIns="0" lIns="0" bIns="0" rIns="0">
            <a:spAutoFit/>
          </a:bodyPr>
          <a:lstStyle/>
          <a:p>
            <a:pPr algn="just">
              <a:lnSpc>
                <a:spcPts val="5616"/>
              </a:lnSpc>
            </a:pPr>
            <a:r>
              <a:rPr lang="en-US" sz="3600">
                <a:solidFill>
                  <a:srgbClr val="000000"/>
                </a:solidFill>
                <a:latin typeface="Arimo"/>
                <a:ea typeface="Arimo"/>
                <a:cs typeface="Arimo"/>
                <a:sym typeface="Arimo"/>
              </a:rPr>
              <a:t>Về nhà, các nhóm cần hoàn thiện lại trang web, kiểm tra dữ liệu phản hồi, và chuẩn bị cho Bài 28</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06065" y="1972627"/>
            <a:ext cx="12882562" cy="2656522"/>
            <a:chOff x="0" y="0"/>
            <a:chExt cx="17176750" cy="3542030"/>
          </a:xfrm>
        </p:grpSpPr>
        <p:sp>
          <p:nvSpPr>
            <p:cNvPr name="Freeform 3" id="3"/>
            <p:cNvSpPr/>
            <p:nvPr/>
          </p:nvSpPr>
          <p:spPr>
            <a:xfrm flipH="false" flipV="false" rot="0">
              <a:off x="0" y="0"/>
              <a:ext cx="17176750" cy="3542030"/>
            </a:xfrm>
            <a:custGeom>
              <a:avLst/>
              <a:gdLst/>
              <a:ahLst/>
              <a:cxnLst/>
              <a:rect r="r" b="b" t="t" l="l"/>
              <a:pathLst>
                <a:path h="3542030" w="17176750">
                  <a:moveTo>
                    <a:pt x="0" y="0"/>
                  </a:moveTo>
                  <a:lnTo>
                    <a:pt x="17176750" y="0"/>
                  </a:lnTo>
                  <a:lnTo>
                    <a:pt x="17176750" y="3542030"/>
                  </a:lnTo>
                  <a:lnTo>
                    <a:pt x="0" y="3542030"/>
                  </a:lnTo>
                  <a:close/>
                </a:path>
              </a:pathLst>
            </a:custGeom>
            <a:solidFill>
              <a:srgbClr val="000000">
                <a:alpha val="0"/>
              </a:srgbClr>
            </a:solidFill>
          </p:spPr>
        </p:sp>
        <p:sp>
          <p:nvSpPr>
            <p:cNvPr name="TextBox 4" id="4"/>
            <p:cNvSpPr txBox="true"/>
            <p:nvPr/>
          </p:nvSpPr>
          <p:spPr>
            <a:xfrm>
              <a:off x="0" y="-66675"/>
              <a:ext cx="17176750" cy="3608705"/>
            </a:xfrm>
            <a:prstGeom prst="rect">
              <a:avLst/>
            </a:prstGeom>
          </p:spPr>
          <p:txBody>
            <a:bodyPr anchor="ctr" rtlCol="false" tIns="0" lIns="0" bIns="0" rIns="0"/>
            <a:lstStyle/>
            <a:p>
              <a:pPr algn="ctr">
                <a:lnSpc>
                  <a:spcPts val="20700"/>
                </a:lnSpc>
              </a:pPr>
              <a:r>
                <a:rPr lang="en-US" sz="17250" b="true">
                  <a:solidFill>
                    <a:srgbClr val="000000"/>
                  </a:solidFill>
                  <a:latin typeface="Arimo Bold"/>
                  <a:ea typeface="Arimo Bold"/>
                  <a:cs typeface="Arimo Bold"/>
                  <a:sym typeface="Arimo Bold"/>
                </a:rPr>
                <a:t>THANKS!</a:t>
              </a:r>
            </a:p>
          </p:txBody>
        </p:sp>
      </p:grpSp>
      <p:grpSp>
        <p:nvGrpSpPr>
          <p:cNvPr name="Group 5" id="5"/>
          <p:cNvGrpSpPr/>
          <p:nvPr/>
        </p:nvGrpSpPr>
        <p:grpSpPr>
          <a:xfrm rot="0">
            <a:off x="422910" y="289560"/>
            <a:ext cx="534352" cy="534352"/>
            <a:chOff x="0" y="0"/>
            <a:chExt cx="712470" cy="712470"/>
          </a:xfrm>
        </p:grpSpPr>
        <p:sp>
          <p:nvSpPr>
            <p:cNvPr name="Freeform 6" id="6"/>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7" id="7"/>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8" id="8"/>
          <p:cNvGrpSpPr/>
          <p:nvPr/>
        </p:nvGrpSpPr>
        <p:grpSpPr>
          <a:xfrm rot="0">
            <a:off x="1863090" y="289560"/>
            <a:ext cx="534352" cy="534352"/>
            <a:chOff x="0" y="0"/>
            <a:chExt cx="712470" cy="712470"/>
          </a:xfrm>
        </p:grpSpPr>
        <p:sp>
          <p:nvSpPr>
            <p:cNvPr name="Freeform 9" id="9"/>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FFFFFF"/>
            </a:solidFill>
            <a:ln w="12700">
              <a:solidFill>
                <a:srgbClr val="000000"/>
              </a:solidFill>
            </a:ln>
          </p:spPr>
        </p:sp>
        <p:sp>
          <p:nvSpPr>
            <p:cNvPr name="Freeform 10" id="10"/>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00B0F0"/>
            </a:solidFill>
            <a:ln w="12700">
              <a:solidFill>
                <a:srgbClr val="000000"/>
              </a:solidFill>
            </a:ln>
          </p:spPr>
        </p:sp>
      </p:grpSp>
      <p:grpSp>
        <p:nvGrpSpPr>
          <p:cNvPr name="Group 11" id="11"/>
          <p:cNvGrpSpPr/>
          <p:nvPr/>
        </p:nvGrpSpPr>
        <p:grpSpPr>
          <a:xfrm rot="0">
            <a:off x="1143000" y="289560"/>
            <a:ext cx="534352" cy="534352"/>
            <a:chOff x="0" y="0"/>
            <a:chExt cx="712470" cy="712470"/>
          </a:xfrm>
        </p:grpSpPr>
        <p:sp>
          <p:nvSpPr>
            <p:cNvPr name="Freeform 12" id="12"/>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13" id="13"/>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14" id="14"/>
          <p:cNvGrpSpPr/>
          <p:nvPr/>
        </p:nvGrpSpPr>
        <p:grpSpPr>
          <a:xfrm rot="0">
            <a:off x="2583180" y="289560"/>
            <a:ext cx="534353" cy="534352"/>
            <a:chOff x="0" y="0"/>
            <a:chExt cx="712470" cy="712470"/>
          </a:xfrm>
        </p:grpSpPr>
        <p:sp>
          <p:nvSpPr>
            <p:cNvPr name="Freeform 15" id="15"/>
            <p:cNvSpPr/>
            <p:nvPr/>
          </p:nvSpPr>
          <p:spPr>
            <a:xfrm flipH="false" flipV="false" rot="0">
              <a:off x="19050" y="19050"/>
              <a:ext cx="674370" cy="674370"/>
            </a:xfrm>
            <a:custGeom>
              <a:avLst/>
              <a:gdLst/>
              <a:ahLst/>
              <a:cxnLst/>
              <a:rect r="r" b="b" t="t" l="l"/>
              <a:pathLst>
                <a:path h="674370" w="674370">
                  <a:moveTo>
                    <a:pt x="0" y="337185"/>
                  </a:moveTo>
                  <a:cubicBezTo>
                    <a:pt x="0" y="151003"/>
                    <a:pt x="151003" y="0"/>
                    <a:pt x="337185" y="0"/>
                  </a:cubicBezTo>
                  <a:cubicBezTo>
                    <a:pt x="523367" y="0"/>
                    <a:pt x="674370" y="151003"/>
                    <a:pt x="674370" y="337185"/>
                  </a:cubicBezTo>
                  <a:cubicBezTo>
                    <a:pt x="674370" y="523367"/>
                    <a:pt x="523367" y="674370"/>
                    <a:pt x="337185" y="674370"/>
                  </a:cubicBezTo>
                  <a:cubicBezTo>
                    <a:pt x="151003" y="674370"/>
                    <a:pt x="0" y="523367"/>
                    <a:pt x="0" y="337185"/>
                  </a:cubicBezTo>
                  <a:close/>
                </a:path>
              </a:pathLst>
            </a:custGeom>
            <a:solidFill>
              <a:srgbClr val="00B0F0"/>
            </a:solidFill>
            <a:ln w="12700">
              <a:solidFill>
                <a:srgbClr val="000000"/>
              </a:solidFill>
            </a:ln>
          </p:spPr>
        </p:sp>
        <p:sp>
          <p:nvSpPr>
            <p:cNvPr name="Freeform 16" id="16"/>
            <p:cNvSpPr/>
            <p:nvPr/>
          </p:nvSpPr>
          <p:spPr>
            <a:xfrm flipH="false" flipV="false" rot="0">
              <a:off x="0" y="0"/>
              <a:ext cx="712470" cy="712470"/>
            </a:xfrm>
            <a:custGeom>
              <a:avLst/>
              <a:gdLst/>
              <a:ahLst/>
              <a:cxnLst/>
              <a:rect r="r" b="b" t="t" l="l"/>
              <a:pathLst>
                <a:path h="712470" w="712470">
                  <a:moveTo>
                    <a:pt x="0" y="356235"/>
                  </a:moveTo>
                  <a:cubicBezTo>
                    <a:pt x="0" y="159512"/>
                    <a:pt x="159512" y="0"/>
                    <a:pt x="356235" y="0"/>
                  </a:cubicBezTo>
                  <a:lnTo>
                    <a:pt x="356235" y="19050"/>
                  </a:lnTo>
                  <a:lnTo>
                    <a:pt x="356235" y="0"/>
                  </a:lnTo>
                  <a:cubicBezTo>
                    <a:pt x="552958" y="0"/>
                    <a:pt x="712470" y="159512"/>
                    <a:pt x="712470" y="356235"/>
                  </a:cubicBezTo>
                  <a:lnTo>
                    <a:pt x="693420" y="356235"/>
                  </a:lnTo>
                  <a:lnTo>
                    <a:pt x="712470" y="356235"/>
                  </a:lnTo>
                  <a:cubicBezTo>
                    <a:pt x="712470" y="552958"/>
                    <a:pt x="552958" y="712470"/>
                    <a:pt x="356235" y="712470"/>
                  </a:cubicBezTo>
                  <a:lnTo>
                    <a:pt x="356235" y="693420"/>
                  </a:lnTo>
                  <a:lnTo>
                    <a:pt x="356235" y="712470"/>
                  </a:lnTo>
                  <a:cubicBezTo>
                    <a:pt x="159512" y="712470"/>
                    <a:pt x="0" y="552958"/>
                    <a:pt x="0" y="356235"/>
                  </a:cubicBezTo>
                  <a:lnTo>
                    <a:pt x="19050" y="356235"/>
                  </a:lnTo>
                  <a:lnTo>
                    <a:pt x="38100" y="356235"/>
                  </a:lnTo>
                  <a:lnTo>
                    <a:pt x="19050" y="356235"/>
                  </a:lnTo>
                  <a:lnTo>
                    <a:pt x="0" y="356235"/>
                  </a:lnTo>
                  <a:moveTo>
                    <a:pt x="38100" y="356235"/>
                  </a:moveTo>
                  <a:cubicBezTo>
                    <a:pt x="38100" y="366776"/>
                    <a:pt x="29591" y="375285"/>
                    <a:pt x="19050" y="375285"/>
                  </a:cubicBezTo>
                  <a:cubicBezTo>
                    <a:pt x="8509" y="375285"/>
                    <a:pt x="0" y="366776"/>
                    <a:pt x="0" y="356235"/>
                  </a:cubicBezTo>
                  <a:cubicBezTo>
                    <a:pt x="0" y="345694"/>
                    <a:pt x="8509" y="337185"/>
                    <a:pt x="19050" y="337185"/>
                  </a:cubicBezTo>
                  <a:cubicBezTo>
                    <a:pt x="29591" y="337185"/>
                    <a:pt x="38100" y="345694"/>
                    <a:pt x="38100" y="356235"/>
                  </a:cubicBezTo>
                  <a:cubicBezTo>
                    <a:pt x="38100" y="531876"/>
                    <a:pt x="180594" y="674370"/>
                    <a:pt x="356235" y="674370"/>
                  </a:cubicBezTo>
                  <a:cubicBezTo>
                    <a:pt x="531876" y="674370"/>
                    <a:pt x="674370" y="531876"/>
                    <a:pt x="674370" y="356235"/>
                  </a:cubicBezTo>
                  <a:cubicBezTo>
                    <a:pt x="674370" y="180594"/>
                    <a:pt x="531876" y="38100"/>
                    <a:pt x="356235" y="38100"/>
                  </a:cubicBezTo>
                  <a:lnTo>
                    <a:pt x="356235" y="19050"/>
                  </a:lnTo>
                  <a:lnTo>
                    <a:pt x="356235" y="38100"/>
                  </a:lnTo>
                  <a:cubicBezTo>
                    <a:pt x="180594" y="38100"/>
                    <a:pt x="38100" y="180594"/>
                    <a:pt x="38100" y="356235"/>
                  </a:cubicBezTo>
                  <a:close/>
                </a:path>
              </a:pathLst>
            </a:custGeom>
            <a:solidFill>
              <a:srgbClr val="FFFFFF"/>
            </a:solidFill>
            <a:ln w="12700">
              <a:solidFill>
                <a:srgbClr val="000000"/>
              </a:solidFill>
            </a:ln>
          </p:spPr>
        </p:sp>
      </p:grpSp>
      <p:grpSp>
        <p:nvGrpSpPr>
          <p:cNvPr name="Group 17" id="17"/>
          <p:cNvGrpSpPr/>
          <p:nvPr/>
        </p:nvGrpSpPr>
        <p:grpSpPr>
          <a:xfrm rot="0">
            <a:off x="2508885" y="1780223"/>
            <a:ext cx="13229273" cy="2944178"/>
            <a:chOff x="0" y="0"/>
            <a:chExt cx="17639030" cy="3925570"/>
          </a:xfrm>
        </p:grpSpPr>
        <p:sp>
          <p:nvSpPr>
            <p:cNvPr name="Freeform 18" id="18"/>
            <p:cNvSpPr/>
            <p:nvPr/>
          </p:nvSpPr>
          <p:spPr>
            <a:xfrm flipH="false" flipV="false" rot="0">
              <a:off x="0" y="0"/>
              <a:ext cx="17639030" cy="3925570"/>
            </a:xfrm>
            <a:custGeom>
              <a:avLst/>
              <a:gdLst/>
              <a:ahLst/>
              <a:cxnLst/>
              <a:rect r="r" b="b" t="t" l="l"/>
              <a:pathLst>
                <a:path h="3925570" w="17639030">
                  <a:moveTo>
                    <a:pt x="57150" y="0"/>
                  </a:moveTo>
                  <a:lnTo>
                    <a:pt x="17581880" y="0"/>
                  </a:lnTo>
                  <a:cubicBezTo>
                    <a:pt x="17613503" y="0"/>
                    <a:pt x="17639030" y="25527"/>
                    <a:pt x="17639030" y="57150"/>
                  </a:cubicBezTo>
                  <a:lnTo>
                    <a:pt x="17639030" y="3868420"/>
                  </a:lnTo>
                  <a:cubicBezTo>
                    <a:pt x="17639030" y="3900043"/>
                    <a:pt x="17613503" y="3925570"/>
                    <a:pt x="17581880" y="3925570"/>
                  </a:cubicBezTo>
                  <a:lnTo>
                    <a:pt x="57150" y="3925570"/>
                  </a:lnTo>
                  <a:cubicBezTo>
                    <a:pt x="25527" y="3925570"/>
                    <a:pt x="0" y="3900043"/>
                    <a:pt x="0" y="3868420"/>
                  </a:cubicBezTo>
                  <a:lnTo>
                    <a:pt x="0" y="57150"/>
                  </a:lnTo>
                  <a:cubicBezTo>
                    <a:pt x="0" y="25527"/>
                    <a:pt x="25527" y="0"/>
                    <a:pt x="57150" y="0"/>
                  </a:cubicBezTo>
                  <a:moveTo>
                    <a:pt x="57150" y="114300"/>
                  </a:moveTo>
                  <a:lnTo>
                    <a:pt x="57150" y="57150"/>
                  </a:lnTo>
                  <a:lnTo>
                    <a:pt x="114300" y="57150"/>
                  </a:lnTo>
                  <a:lnTo>
                    <a:pt x="114300" y="3868420"/>
                  </a:lnTo>
                  <a:lnTo>
                    <a:pt x="57150" y="3868420"/>
                  </a:lnTo>
                  <a:lnTo>
                    <a:pt x="57150" y="3811270"/>
                  </a:lnTo>
                  <a:lnTo>
                    <a:pt x="17581880" y="3811270"/>
                  </a:lnTo>
                  <a:lnTo>
                    <a:pt x="17581880" y="3868420"/>
                  </a:lnTo>
                  <a:lnTo>
                    <a:pt x="17524730" y="3868420"/>
                  </a:lnTo>
                  <a:lnTo>
                    <a:pt x="17524730" y="57150"/>
                  </a:lnTo>
                  <a:lnTo>
                    <a:pt x="17581880" y="57150"/>
                  </a:lnTo>
                  <a:lnTo>
                    <a:pt x="17581880" y="114300"/>
                  </a:lnTo>
                  <a:lnTo>
                    <a:pt x="57150" y="114300"/>
                  </a:lnTo>
                  <a:close/>
                </a:path>
              </a:pathLst>
            </a:custGeom>
            <a:solidFill>
              <a:srgbClr val="00B0F0"/>
            </a:solidFill>
            <a:ln w="12700">
              <a:solidFill>
                <a:srgbClr val="000000"/>
              </a:solidFill>
            </a:ln>
          </p:spPr>
        </p:sp>
      </p:grpSp>
      <p:grpSp>
        <p:nvGrpSpPr>
          <p:cNvPr name="Group 19" id="19"/>
          <p:cNvGrpSpPr>
            <a:grpSpLocks noChangeAspect="true"/>
          </p:cNvGrpSpPr>
          <p:nvPr/>
        </p:nvGrpSpPr>
        <p:grpSpPr>
          <a:xfrm rot="0">
            <a:off x="3507105" y="4100512"/>
            <a:ext cx="10545128" cy="6186488"/>
            <a:chOff x="0" y="0"/>
            <a:chExt cx="14060170" cy="8248650"/>
          </a:xfrm>
        </p:grpSpPr>
        <p:sp>
          <p:nvSpPr>
            <p:cNvPr name="Freeform 20" id="20" descr="https://kimi-img.moonshot.cn/pub/slides/slides_tmpl/image/25-08-27-19:57:41-d2nf5d98bjvh7rlivslg.png"/>
            <p:cNvSpPr/>
            <p:nvPr/>
          </p:nvSpPr>
          <p:spPr>
            <a:xfrm flipH="false" flipV="false" rot="0">
              <a:off x="0" y="0"/>
              <a:ext cx="14060170" cy="8248650"/>
            </a:xfrm>
            <a:custGeom>
              <a:avLst/>
              <a:gdLst/>
              <a:ahLst/>
              <a:cxnLst/>
              <a:rect r="r" b="b" t="t" l="l"/>
              <a:pathLst>
                <a:path h="8248650" w="14060170">
                  <a:moveTo>
                    <a:pt x="0" y="0"/>
                  </a:moveTo>
                  <a:lnTo>
                    <a:pt x="14060170" y="0"/>
                  </a:lnTo>
                  <a:lnTo>
                    <a:pt x="14060170" y="8248650"/>
                  </a:lnTo>
                  <a:lnTo>
                    <a:pt x="0" y="8248650"/>
                  </a:lnTo>
                  <a:lnTo>
                    <a:pt x="0" y="0"/>
                  </a:lnTo>
                  <a:close/>
                </a:path>
              </a:pathLst>
            </a:custGeom>
            <a:blipFill>
              <a:blip r:embed="rId3"/>
              <a:stretch>
                <a:fillRect l="0" t="0" r="-13" b="-73244"/>
              </a:stretch>
            </a:blipFill>
          </p:spPr>
        </p:sp>
      </p:grpSp>
      <p:grpSp>
        <p:nvGrpSpPr>
          <p:cNvPr name="Group 21" id="21"/>
          <p:cNvGrpSpPr/>
          <p:nvPr/>
        </p:nvGrpSpPr>
        <p:grpSpPr>
          <a:xfrm rot="0">
            <a:off x="394335" y="9069705"/>
            <a:ext cx="996969" cy="85725"/>
            <a:chOff x="0" y="0"/>
            <a:chExt cx="1329292" cy="114300"/>
          </a:xfrm>
        </p:grpSpPr>
        <p:sp>
          <p:nvSpPr>
            <p:cNvPr name="Freeform 22" id="22"/>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23" id="23"/>
          <p:cNvGrpSpPr/>
          <p:nvPr/>
        </p:nvGrpSpPr>
        <p:grpSpPr>
          <a:xfrm rot="0">
            <a:off x="394335" y="9420225"/>
            <a:ext cx="996969" cy="85725"/>
            <a:chOff x="0" y="0"/>
            <a:chExt cx="1329292" cy="114300"/>
          </a:xfrm>
        </p:grpSpPr>
        <p:sp>
          <p:nvSpPr>
            <p:cNvPr name="Freeform 24" id="24"/>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grpSp>
        <p:nvGrpSpPr>
          <p:cNvPr name="Group 25" id="25"/>
          <p:cNvGrpSpPr/>
          <p:nvPr/>
        </p:nvGrpSpPr>
        <p:grpSpPr>
          <a:xfrm rot="0">
            <a:off x="394335" y="9770745"/>
            <a:ext cx="996969" cy="85725"/>
            <a:chOff x="0" y="0"/>
            <a:chExt cx="1329292" cy="114300"/>
          </a:xfrm>
        </p:grpSpPr>
        <p:sp>
          <p:nvSpPr>
            <p:cNvPr name="Freeform 26" id="26"/>
            <p:cNvSpPr/>
            <p:nvPr/>
          </p:nvSpPr>
          <p:spPr>
            <a:xfrm flipH="false" flipV="false" rot="0">
              <a:off x="57150" y="0"/>
              <a:ext cx="1215009" cy="114300"/>
            </a:xfrm>
            <a:custGeom>
              <a:avLst/>
              <a:gdLst/>
              <a:ahLst/>
              <a:cxnLst/>
              <a:rect r="r" b="b" t="t" l="l"/>
              <a:pathLst>
                <a:path h="114300" w="1215009">
                  <a:moveTo>
                    <a:pt x="0" y="0"/>
                  </a:moveTo>
                  <a:lnTo>
                    <a:pt x="1215009" y="0"/>
                  </a:lnTo>
                  <a:lnTo>
                    <a:pt x="1215009" y="114300"/>
                  </a:lnTo>
                  <a:lnTo>
                    <a:pt x="0" y="114300"/>
                  </a:lnTo>
                  <a:close/>
                </a:path>
              </a:pathLst>
            </a:custGeom>
            <a:solidFill>
              <a:srgbClr val="00B0F0"/>
            </a:solidFill>
            <a:ln w="12700">
              <a:solidFill>
                <a:srgbClr val="000000"/>
              </a:solidFill>
            </a:ln>
          </p:spPr>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DAG5oQJ8GFA</dc:identifier>
  <dcterms:modified xsi:type="dcterms:W3CDTF">2011-08-01T06:04:30Z</dcterms:modified>
  <cp:revision>1</cp:revision>
  <dc:title>Bài 27- Biểu mẫu trong trang web.pptx</dc:title>
</cp:coreProperties>
</file>